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7b051338094197" /><Relationship Type="http://schemas.openxmlformats.org/officeDocument/2006/relationships/extended-properties" Target="/docProps/app.xml" Id="R8583f1d970aa460c" /><Relationship Type="http://schemas.openxmlformats.org/officeDocument/2006/relationships/officeDocument" Target="/ppt/presentation.xml" Id="R31ac183daa154502" /></Relationships>
</file>

<file path=ppt/presentation.xml><?xml version="1.0" encoding="utf-8"?>
<p:presentation xmlns:p="http://schemas.openxmlformats.org/presentationml/2006/main">
  <p:sldMasterIdLst>
    <p:sldMasterId xmlns:r="http://schemas.openxmlformats.org/officeDocument/2006/relationships" id="2147483648" r:id="Red3b9bbe8ff34f02"/>
  </p:sldMasterIdLst>
  <p:notesMasterIdLst>
    <p:notesMasterId xmlns:r="http://schemas.openxmlformats.org/officeDocument/2006/relationships" r:id="Rb0374f7e9c234263"/>
  </p:notesMasterIdLst>
  <p:sldIdLst>
    <p:sldId xmlns:r="http://schemas.openxmlformats.org/officeDocument/2006/relationships" id="256" r:id="R3fa2fa06d54c4de2"/>
    <p:sldId xmlns:r="http://schemas.openxmlformats.org/officeDocument/2006/relationships" id="257" r:id="R80b57d7461a64a85"/>
    <p:sldId xmlns:r="http://schemas.openxmlformats.org/officeDocument/2006/relationships" id="258" r:id="R56aeca05b66243d5"/>
    <p:sldId xmlns:r="http://schemas.openxmlformats.org/officeDocument/2006/relationships" id="259" r:id="R4d88e6c5e39d44f6"/>
    <p:sldId xmlns:r="http://schemas.openxmlformats.org/officeDocument/2006/relationships" id="260" r:id="R569f85122c304928"/>
    <p:sldId xmlns:r="http://schemas.openxmlformats.org/officeDocument/2006/relationships" id="261" r:id="R985903f875ac47f9"/>
    <p:sldId xmlns:r="http://schemas.openxmlformats.org/officeDocument/2006/relationships" id="262" r:id="R5b9db972e3864031"/>
    <p:sldId xmlns:r="http://schemas.openxmlformats.org/officeDocument/2006/relationships" id="263" r:id="Ra474f20bff674a24"/>
    <p:sldId xmlns:r="http://schemas.openxmlformats.org/officeDocument/2006/relationships" id="264" r:id="Rf5f7d87963444d00"/>
    <p:sldId xmlns:r="http://schemas.openxmlformats.org/officeDocument/2006/relationships" id="265" r:id="R0146b62a6a464468"/>
    <p:sldId xmlns:r="http://schemas.openxmlformats.org/officeDocument/2006/relationships" id="266" r:id="R39b329aaaab143ec"/>
    <p:sldId xmlns:r="http://schemas.openxmlformats.org/officeDocument/2006/relationships" id="267" r:id="Rd9bccfc294ca4bf2"/>
    <p:sldId xmlns:r="http://schemas.openxmlformats.org/officeDocument/2006/relationships" id="268" r:id="Rebc12c34d1684775"/>
    <p:sldId xmlns:r="http://schemas.openxmlformats.org/officeDocument/2006/relationships" id="269" r:id="Rdd9b8d7453c749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207f094639417d" /><Relationship Type="http://schemas.openxmlformats.org/officeDocument/2006/relationships/slideMaster" Target="/ppt/slideMasters/slideMaster1.xml" Id="Red3b9bbe8ff34f02" /><Relationship Type="http://schemas.openxmlformats.org/officeDocument/2006/relationships/notesMaster" Target="/ppt/notesMasters/notesMaster1.xml" Id="Rb0374f7e9c234263" /><Relationship Type="http://schemas.openxmlformats.org/officeDocument/2006/relationships/presProps" Target="/ppt/presProps.xml" Id="Re12d7ede8fcf4d36" /><Relationship Type="http://schemas.openxmlformats.org/officeDocument/2006/relationships/tableStyles" Target="/ppt/tableStyles.xml" Id="R931a71d1f5d04974" /><Relationship Type="http://schemas.openxmlformats.org/officeDocument/2006/relationships/slide" Target="/ppt/slides/slide1.xml" Id="R3fa2fa06d54c4de2" /><Relationship Type="http://schemas.openxmlformats.org/officeDocument/2006/relationships/slide" Target="/ppt/slides/slide2.xml" Id="R80b57d7461a64a85" /><Relationship Type="http://schemas.openxmlformats.org/officeDocument/2006/relationships/slide" Target="/ppt/slides/slide3.xml" Id="R56aeca05b66243d5" /><Relationship Type="http://schemas.openxmlformats.org/officeDocument/2006/relationships/slide" Target="/ppt/slides/slide4.xml" Id="R4d88e6c5e39d44f6" /><Relationship Type="http://schemas.openxmlformats.org/officeDocument/2006/relationships/slide" Target="/ppt/slides/slide5.xml" Id="R569f85122c304928" /><Relationship Type="http://schemas.openxmlformats.org/officeDocument/2006/relationships/slide" Target="/ppt/slides/slide6.xml" Id="R985903f875ac47f9" /><Relationship Type="http://schemas.openxmlformats.org/officeDocument/2006/relationships/slide" Target="/ppt/slides/slide7.xml" Id="R5b9db972e3864031" /><Relationship Type="http://schemas.openxmlformats.org/officeDocument/2006/relationships/slide" Target="/ppt/slides/slide8.xml" Id="Ra474f20bff674a24" /><Relationship Type="http://schemas.openxmlformats.org/officeDocument/2006/relationships/slide" Target="/ppt/slides/slide9.xml" Id="Rf5f7d87963444d00" /><Relationship Type="http://schemas.openxmlformats.org/officeDocument/2006/relationships/slide" Target="/ppt/slides/slide10.xml" Id="R0146b62a6a464468" /><Relationship Type="http://schemas.openxmlformats.org/officeDocument/2006/relationships/slide" Target="/ppt/slides/slide11.xml" Id="R39b329aaaab143ec" /><Relationship Type="http://schemas.openxmlformats.org/officeDocument/2006/relationships/slide" Target="/ppt/slides/slide12.xml" Id="Rd9bccfc294ca4bf2" /><Relationship Type="http://schemas.openxmlformats.org/officeDocument/2006/relationships/slide" Target="/ppt/slides/slide13.xml" Id="Rebc12c34d1684775" /><Relationship Type="http://schemas.openxmlformats.org/officeDocument/2006/relationships/slide" Target="/ppt/slides/slide14.xml" Id="Rdd9b8d7453c749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c1c5ac32cc4a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18da4299334a71" /><Relationship Type="http://schemas.openxmlformats.org/officeDocument/2006/relationships/notesMaster" Target="/ppt/notesMasters/notesMaster1.xml" Id="R317632841ee6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e0786c41f444f7" /><Relationship Type="http://schemas.openxmlformats.org/officeDocument/2006/relationships/notesMaster" Target="/ppt/notesMasters/notesMaster1.xml" Id="R3f8f86b3081145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15b506ff9a4a0b" /><Relationship Type="http://schemas.openxmlformats.org/officeDocument/2006/relationships/notesMaster" Target="/ppt/notesMasters/notesMaster1.xml" Id="Rbc1b1d906325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4b8ce55dc747a5" /><Relationship Type="http://schemas.openxmlformats.org/officeDocument/2006/relationships/notesMaster" Target="/ppt/notesMasters/notesMaster1.xml" Id="R3734340695d144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e7c18c5bc04160" /><Relationship Type="http://schemas.openxmlformats.org/officeDocument/2006/relationships/notesMaster" Target="/ppt/notesMasters/notesMaster1.xml" Id="Re88d1ecfd8db46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7b5d83d2124e58" /><Relationship Type="http://schemas.openxmlformats.org/officeDocument/2006/relationships/notesMaster" Target="/ppt/notesMasters/notesMaster1.xml" Id="Rd1a4770e3f2142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a887a737094231" /><Relationship Type="http://schemas.openxmlformats.org/officeDocument/2006/relationships/notesMaster" Target="/ppt/notesMasters/notesMaster1.xml" Id="R26e89a36d6824c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c2b1fee91b4760" /><Relationship Type="http://schemas.openxmlformats.org/officeDocument/2006/relationships/notesMaster" Target="/ppt/notesMasters/notesMaster1.xml" Id="R29737852767340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f7e045654a4e09" /><Relationship Type="http://schemas.openxmlformats.org/officeDocument/2006/relationships/notesMaster" Target="/ppt/notesMasters/notesMaster1.xml" Id="Re14548fb8ebe4a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c001259a2e406a" /><Relationship Type="http://schemas.openxmlformats.org/officeDocument/2006/relationships/notesMaster" Target="/ppt/notesMasters/notesMaster1.xml" Id="R2d95a869f1874d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357e747a3448b5" /><Relationship Type="http://schemas.openxmlformats.org/officeDocument/2006/relationships/notesMaster" Target="/ppt/notesMasters/notesMaster1.xml" Id="R283a093a841746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2e3bb29758495e" /><Relationship Type="http://schemas.openxmlformats.org/officeDocument/2006/relationships/notesMaster" Target="/ppt/notesMasters/notesMaster1.xml" Id="R44da99057ce141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253e1623e14b21" /><Relationship Type="http://schemas.openxmlformats.org/officeDocument/2006/relationships/notesMaster" Target="/ppt/notesMasters/notesMaster1.xml" Id="Rcf388f0342ae43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382f23ecf64afa" /><Relationship Type="http://schemas.openxmlformats.org/officeDocument/2006/relationships/notesMaster" Target="/ppt/notesMasters/notesMaster1.xml" Id="Rc994a936148c43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Apertura sugerida: Estoy desarrollando Mismo en Unity. Quiero que lo probemos y construyamos juntos una demo que haga visible su potencial.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La fantasía central está en la sección 1 del GDD. La conexión con arena corresponde a la nueva visión. Presentar como una experiencia deseada, no como funciones online terminadas.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Loop actual: pueblo, explorar, recolectar y combatir, administrar mochila, volver para guardar, fabricar o mejorar. La captura es una vista del prototipo de UI y no una promesa de arte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GDD secciones 2 y 4. Cuatro familias: espada sola, arco, dos espadas, espada y escudo. Dos conjuntos alternables. Cada familia tiene seis opciones y se seleccionan tres. El objeto de habilidad extra sigue abierto en su forma definitiva.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GDD sección 3: lectura, defensas perfectas, Posture y Focus. Explicar sin fórmulas de balance. Captura histórica de prueba de lluvia de flechas, con blanco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GDD: criaturas, reconocimiento y primera montura de jabalí. Capturas 10 y 11 aportadas por el autor muestran reconocimiento y montura. La ampliación de especies y vínculos queda por diseñar.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Expansión propuesta por el autor. Ejemplo de experiencia deseada, no contenido implementado. Única significa repertorio especial en esta presentación, no una sola copia existente en todo el mundo. La rareza, probabilidad de obtención y transferencia están por definir.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Propuesta nueva. No hay evidencia de networking ni PvP implementados. Los equipos pueden coordinar control, presión y distancia sin clases rígidas. El GDD prioriza single-player y luego cooperativo antes de PvP. No prometer fecha.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Estas son propuestas para conversar, no decisiones del autor. Mantener el requisito de poseer el arma. Normalizar estadísticas podría conservar movimientos únicos sin trasladar todas las diferencias de poder. Se deben definir reglas para consumibles, integridad del inventario y autoridad del servidor.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Estado según GDD 0.7 y capturas. No afirmar que las pruebas aisladas certifican estabilidad o calidad. Captura de armas: Artifacts/UI/quiet-armas.png, UI de prototipo. Falta build actual, revisión de animaciones, balance, navegación y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Propuesta de alcance para acordar con el equipo. No es calendario ni presupuesto. Una región pequeña, dos estilos contrastantes y una recompensa que cambie una decisión. Registrar si los jugadores entienden el combate, cambian equipo y desean repetir. Online requiere además una prueba técnica temprana separada, sin comprometerlo en esta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Áreas sugeridas, no vacantes formales ni compromisos de contratación. Invitar a una contribución concreta y acotada. Antes de asumir responsabilidades, acordar disponibilidad, propiedad y forma de colaborar. No presentar esos acuerdos como ya resueltos.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Cierre sugerido: Quiero que prueben lo que ya está, me digan qué les entusiasma y elijamos una parte pequeña para mejorar juntos. Si la demo genera ganas de volver, tendremos una base más convincente para buscar comunidad y financiación.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Mismo_GDD_v0.7.docx, 13/09/2026. Las ampliaciones de arena, armas únicas y consumibles provienen de la propuesta del autor del 15/09/2026. El estado funcional se basa en el GDD y las capturas del proyecto, no en una nueva prueba de juego.</a:t>
            </a:r>
          </a:p>
          <a:p xmlns:a="http://schemas.openxmlformats.org/drawingml/2006/main">
            <a:r>
              <a:t/>
            </a:r>
          </a:p>
          <a:p xmlns:a="http://schemas.openxmlformats.org/drawingml/2006/main">
            <a:r>
              <a:t>Fuentes consultadas el 15/09/2026. https://www.kickstarter.com/projects/projectgorgon/project-gorgon-pc-mmo : USD 74.781, meta USD 20.000, 1.318 aportantes, campaña 2015. https://www.kickstarter.com/projects/1661802484/hyper-light-drifter : USD 645.158, meta USD 27.000, 24.150 aportantes, campaña 2013. Afinidad interpretativa: fantasía/exploración y aventura/exploración. No son equivalentes al concepto completo de Mismo. Recaudación bruta de campaña, no beneficio ni presupuesto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1f7747a8be40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c434e6d3884240" /><Relationship Type="http://schemas.openxmlformats.org/officeDocument/2006/relationships/slideLayout" Target="/ppt/slideLayouts/slideLayout1.xml" Id="R7048ce9ea77d44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8ce9ea77d44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ea26dee27c4b2d" /><Relationship Type="http://schemas.openxmlformats.org/officeDocument/2006/relationships/image" Target="/ppt/media/image.png" Id="R83cfcba182e14a4a" /><Relationship Type="http://schemas.openxmlformats.org/officeDocument/2006/relationships/notesSlide" Target="/ppt/notesSlides/notesSlide1.xml" Id="R7137a44dfe954f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2fcf8a7c4f4170" /><Relationship Type="http://schemas.openxmlformats.org/officeDocument/2006/relationships/notesSlide" Target="/ppt/notesSlides/notesSlide2.xml" Id="R7d17265765a14d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b8126460544e3b" /><Relationship Type="http://schemas.openxmlformats.org/officeDocument/2006/relationships/image" Target="/ppt/media/image2.png" Id="R2248608863d340ef" /><Relationship Type="http://schemas.openxmlformats.org/officeDocument/2006/relationships/notesSlide" Target="/ppt/notesSlides/notesSlide3.xml" Id="R4e69caee82ec4b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092b9a76ad44b9" /><Relationship Type="http://schemas.openxmlformats.org/officeDocument/2006/relationships/notesSlide" Target="/ppt/notesSlides/notesSlide4.xml" Id="R09e8abe50ab54b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c760e73ec84d59" /><Relationship Type="http://schemas.openxmlformats.org/officeDocument/2006/relationships/image" Target="/ppt/media/image3.png" Id="Rd6d6d6f3e5454bc9" /><Relationship Type="http://schemas.openxmlformats.org/officeDocument/2006/relationships/image" Target="/ppt/media/image4.png" Id="R23c2693ab8474a4c" /><Relationship Type="http://schemas.openxmlformats.org/officeDocument/2006/relationships/notesSlide" Target="/ppt/notesSlides/notesSlide5.xml" Id="Rfe19af02464944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15a0e26eb44c5d" /><Relationship Type="http://schemas.openxmlformats.org/officeDocument/2006/relationships/image" Target="/ppt/media/image5.png" Id="R519ead7a19fd46e2" /><Relationship Type="http://schemas.openxmlformats.org/officeDocument/2006/relationships/image" Target="/ppt/media/image6.png" Id="Ra8e02057baaf42b2" /><Relationship Type="http://schemas.openxmlformats.org/officeDocument/2006/relationships/notesSlide" Target="/ppt/notesSlides/notesSlide6.xml" Id="R6e124d369b2e42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1be6be632847a1" /><Relationship Type="http://schemas.openxmlformats.org/officeDocument/2006/relationships/notesSlide" Target="/ppt/notesSlides/notesSlide7.xml" Id="R0f95e12cb84742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b3f0d2ce96453f" /><Relationship Type="http://schemas.openxmlformats.org/officeDocument/2006/relationships/notesSlide" Target="/ppt/notesSlides/notesSlide8.xml" Id="R639ecce8422347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0c479d9e7b4df2" /><Relationship Type="http://schemas.openxmlformats.org/officeDocument/2006/relationships/notesSlide" Target="/ppt/notesSlides/notesSlide9.xml" Id="Rf354f0c0cb9a48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ef02a7649e4f4a" /><Relationship Type="http://schemas.openxmlformats.org/officeDocument/2006/relationships/image" Target="/ppt/media/image.jpeg" Id="Re87951ca59e24c09" /><Relationship Type="http://schemas.openxmlformats.org/officeDocument/2006/relationships/notesSlide" Target="/ppt/notesSlides/notesSlide10.xml" Id="R8869b3ac135e46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71c08dabe2417b" /><Relationship Type="http://schemas.openxmlformats.org/officeDocument/2006/relationships/notesSlide" Target="/ppt/notesSlides/notesSlide11.xml" Id="R99437cb05ec442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24cafca49045ac" /><Relationship Type="http://schemas.openxmlformats.org/officeDocument/2006/relationships/notesSlide" Target="/ppt/notesSlides/notesSlide12.xml" Id="Rc4f6f53b4e4048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e8549375a24d86" /><Relationship Type="http://schemas.openxmlformats.org/officeDocument/2006/relationships/notesSlide" Target="/ppt/notesSlides/notesSlide13.xml" Id="Rb3d5d67532bb49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be875ad25f4e1c" /><Relationship Type="http://schemas.openxmlformats.org/officeDocument/2006/relationships/notesSlide" Target="/ppt/notesSlides/notesSlide14.xml" Id="Raae1c3f2d26c4597" /></Relationships>
</file>

<file path=ppt/slides/slide1.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5D99FE-8C57-46A8-9985-DE80876AC45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6446011-54AC-4DC1-A4C4-9DBB9CDECDB7}"/>
              </a:ext>
            </a:extLst>
          </p:cNvPr>
          <p:cNvSpPr>
            <a:spLocks xmlns:a="http://schemas.openxmlformats.org/drawingml/2006/main" noGrp="1"/>
          </p:cNvSpPr>
          <p:nvPr/>
        </p:nvSpPr>
        <p:spPr>
          <a:xfrm xmlns:a="http://schemas.openxmlformats.org/drawingml/2006/main">
            <a:off x="609600" y="609600"/>
            <a:ext cx="590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F1F0E7"/>
                </a:solidFill>
                <a:latin typeface="Arial"/>
                <a:ea typeface="Arial"/>
                <a:cs typeface="Arial"/>
              </a:defRPr>
            </a:pPr>
            <a:r>
              <a:rPr sz="7500" b="1">
                <a:solidFill>
                  <a:srgbClr val="F1F0E7"/>
                </a:solidFill>
                <a:latin typeface="Arial"/>
                <a:ea typeface="Arial"/>
                <a:cs typeface="Arial"/>
              </a:rPr>
              <a:t>MISMO</a:t>
            </a:r>
          </a:p>
        </p:txBody>
      </p:sp>
      <p:sp>
        <p:nvSpPr>
          <p:cNvPr id="3" name="">
            <a:extLst xmlns:a="http://schemas.openxmlformats.org/drawingml/2006/main">
              <a:ext uri="{FF2B5EF4-FFF2-40B4-BE49-F238E27FC236}">
                <a16:creationId xmlns:a16="http://schemas.microsoft.com/office/drawing/2014/main" id="{238C14BD-002A-4174-97EB-039DB99F9A2B}"/>
              </a:ext>
            </a:extLst>
          </p:cNvPr>
          <p:cNvSpPr>
            <a:spLocks xmlns:a="http://schemas.openxmlformats.org/drawingml/2006/main" noGrp="1"/>
          </p:cNvSpPr>
          <p:nvPr/>
        </p:nvSpPr>
        <p:spPr>
          <a:xfrm xmlns:a="http://schemas.openxmlformats.org/drawingml/2006/main">
            <a:off x="666750" y="17907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E6BF75"/>
                </a:solidFill>
                <a:latin typeface="Arial"/>
                <a:ea typeface="Arial"/>
                <a:cs typeface="Arial"/>
              </a:defRPr>
            </a:pPr>
            <a:r>
              <a:rPr sz="2925" b="0">
                <a:solidFill>
                  <a:srgbClr val="E6BF75"/>
                </a:solidFill>
                <a:latin typeface="Arial"/>
                <a:ea typeface="Arial"/>
                <a:cs typeface="Arial"/>
              </a:rPr>
              <a:t>Un personaje. Tu estilo nace de las armas.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3cfcba182e14a4a"/>
          <a:stretch xmlns:a="http://schemas.openxmlformats.org/drawingml/2006/main"/>
        </p:blipFill>
        <p:spPr>
          <a:xfrm xmlns:a="http://schemas.openxmlformats.org/drawingml/2006/main">
            <a:off x="2302718" y="2762250"/>
            <a:ext cx="7586564"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95D391D-2A8E-4C33-BBDD-099003764BDA}"/>
              </a:ext>
            </a:extLst>
          </p:cNvPr>
          <p:cNvSpPr>
            <a:spLocks xmlns:a="http://schemas.openxmlformats.org/drawingml/2006/main" noGrp="1"/>
          </p:cNvSpPr>
          <p:nvPr/>
        </p:nvSpPr>
        <p:spPr>
          <a:xfrm xmlns:a="http://schemas.openxmlformats.org/drawingml/2006/main">
            <a:off x="685800" y="63436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5C1"/>
                </a:solidFill>
                <a:latin typeface="Arial"/>
                <a:ea typeface="Arial"/>
                <a:cs typeface="Arial"/>
              </a:defRPr>
            </a:pPr>
            <a:r>
              <a:rPr sz="1800" b="0">
                <a:solidFill>
                  <a:srgbClr val="B7C5C1"/>
                </a:solidFill>
                <a:latin typeface="Arial"/>
                <a:ea typeface="Arial"/>
                <a:cs typeface="Arial"/>
              </a:rPr>
              <a:t>Propuesta para formar equipo</a:t>
            </a:r>
          </a:p>
        </p:txBody>
      </p:sp>
    </p:spTree>
    <p:extLst>
      <p:ext uri="{BB962C8B-B14F-4D97-AF65-F5344CB8AC3E}">
        <p14:creationId xmlns:p14="http://schemas.microsoft.com/office/powerpoint/2010/main" val="1656389365"/>
      </p:ext>
    </p:extLst>
  </p:cSld>
</p:sld>
</file>

<file path=ppt/slides/slide2.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40FACF-B9D8-4845-B369-06DAF140048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 experiencia que queremos construir</a:t>
            </a:r>
          </a:p>
        </p:txBody>
      </p:sp>
      <p:sp>
        <p:nvSpPr>
          <p:cNvPr id="2" name="">
            <a:extLst xmlns:a="http://schemas.openxmlformats.org/drawingml/2006/main">
              <a:ext uri="{FF2B5EF4-FFF2-40B4-BE49-F238E27FC236}">
                <a16:creationId xmlns:a16="http://schemas.microsoft.com/office/drawing/2014/main" id="{38DF17C1-EC12-45F8-97C7-763568EACF3C}"/>
              </a:ext>
            </a:extLst>
          </p:cNvPr>
          <p:cNvSpPr>
            <a:spLocks xmlns:a="http://schemas.openxmlformats.org/drawingml/2006/main" noGrp="1"/>
          </p:cNvSpPr>
          <p:nvPr/>
        </p:nvSpPr>
        <p:spPr>
          <a:xfrm xmlns:a="http://schemas.openxmlformats.org/drawingml/2006/main">
            <a:off x="609600" y="1714500"/>
            <a:ext cx="1081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6BF75"/>
                </a:solidFill>
                <a:latin typeface="Arial"/>
                <a:ea typeface="Arial"/>
                <a:cs typeface="Arial"/>
              </a:defRPr>
            </a:pPr>
            <a:r>
              <a:rPr sz="3600" b="1">
                <a:solidFill>
                  <a:srgbClr val="E6BF75"/>
                </a:solidFill>
                <a:latin typeface="Arial"/>
                <a:ea typeface="Arial"/>
                <a:cs typeface="Arial"/>
              </a:rPr>
              <a:t>Encontrás un arma que cambia</a:t>
            </a:r>
          </a:p>
          <a:p xmlns:a="http://schemas.openxmlformats.org/drawingml/2006/main">
            <a:pPr>
              <a:defRPr sz="3600" b="1">
                <a:solidFill>
                  <a:srgbClr val="E6BF75"/>
                </a:solidFill>
                <a:latin typeface="Arial"/>
                <a:ea typeface="Arial"/>
                <a:cs typeface="Arial"/>
              </a:defRPr>
            </a:pPr>
            <a:r>
              <a:rPr sz="3600" b="1">
                <a:solidFill>
                  <a:srgbClr val="E6BF75"/>
                </a:solidFill>
                <a:latin typeface="Arial"/>
                <a:ea typeface="Arial"/>
                <a:cs typeface="Arial"/>
              </a:rPr>
              <a:t>cómo te gusta pelear.</a:t>
            </a:r>
          </a:p>
        </p:txBody>
      </p:sp>
      <p:sp>
        <p:nvSpPr>
          <p:cNvPr id="3" name="">
            <a:extLst xmlns:a="http://schemas.openxmlformats.org/drawingml/2006/main">
              <a:ext uri="{FF2B5EF4-FFF2-40B4-BE49-F238E27FC236}">
                <a16:creationId xmlns:a16="http://schemas.microsoft.com/office/drawing/2014/main" id="{9C11554E-C9DA-4855-95A0-CCF1FB13555E}"/>
              </a:ext>
            </a:extLst>
          </p:cNvPr>
          <p:cNvSpPr>
            <a:spLocks xmlns:a="http://schemas.openxmlformats.org/drawingml/2006/main" noGrp="1"/>
          </p:cNvSpPr>
          <p:nvPr/>
        </p:nvSpPr>
        <p:spPr>
          <a:xfrm xmlns:a="http://schemas.openxmlformats.org/drawingml/2006/main">
            <a:off x="609600" y="3476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En el mundo</a:t>
            </a:r>
          </a:p>
        </p:txBody>
      </p:sp>
      <p:sp>
        <p:nvSpPr>
          <p:cNvPr id="4" name="">
            <a:extLst xmlns:a="http://schemas.openxmlformats.org/drawingml/2006/main">
              <a:ext uri="{FF2B5EF4-FFF2-40B4-BE49-F238E27FC236}">
                <a16:creationId xmlns:a16="http://schemas.microsoft.com/office/drawing/2014/main" id="{5B5AADC0-BEB0-4BB6-9190-DC02CA9EC93C}"/>
              </a:ext>
            </a:extLst>
          </p:cNvPr>
          <p:cNvSpPr>
            <a:spLocks xmlns:a="http://schemas.openxmlformats.org/drawingml/2006/main" noGrp="1"/>
          </p:cNvSpPr>
          <p:nvPr/>
        </p:nvSpPr>
        <p:spPr>
          <a:xfrm xmlns:a="http://schemas.openxmlformats.org/drawingml/2006/main">
            <a:off x="609600" y="40195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Explorás, enfrentás peligros y descubrís equipo. Cada salida puede abrir una forma de jugar.</a:t>
            </a:r>
          </a:p>
        </p:txBody>
      </p:sp>
      <p:sp>
        <p:nvSpPr>
          <p:cNvPr id="5" name="">
            <a:extLst xmlns:a="http://schemas.openxmlformats.org/drawingml/2006/main">
              <a:ext uri="{FF2B5EF4-FFF2-40B4-BE49-F238E27FC236}">
                <a16:creationId xmlns:a16="http://schemas.microsoft.com/office/drawing/2014/main" id="{9AB7F35A-5440-4280-AB86-44A11AFA2344}"/>
              </a:ext>
            </a:extLst>
          </p:cNvPr>
          <p:cNvSpPr>
            <a:spLocks xmlns:a="http://schemas.openxmlformats.org/drawingml/2006/main" noGrp="1"/>
          </p:cNvSpPr>
          <p:nvPr/>
        </p:nvSpPr>
        <p:spPr>
          <a:xfrm xmlns:a="http://schemas.openxmlformats.org/drawingml/2006/main">
            <a:off x="6477000" y="3476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Con tus compañeros</a:t>
            </a:r>
          </a:p>
        </p:txBody>
      </p:sp>
      <p:sp>
        <p:nvSpPr>
          <p:cNvPr id="6" name="">
            <a:extLst xmlns:a="http://schemas.openxmlformats.org/drawingml/2006/main">
              <a:ext uri="{FF2B5EF4-FFF2-40B4-BE49-F238E27FC236}">
                <a16:creationId xmlns:a16="http://schemas.microsoft.com/office/drawing/2014/main" id="{9141628F-628C-4AF5-A7C8-39F8315E921E}"/>
              </a:ext>
            </a:extLst>
          </p:cNvPr>
          <p:cNvSpPr>
            <a:spLocks xmlns:a="http://schemas.openxmlformats.org/drawingml/2006/main" noGrp="1"/>
          </p:cNvSpPr>
          <p:nvPr/>
        </p:nvSpPr>
        <p:spPr>
          <a:xfrm xmlns:a="http://schemas.openxmlformats.org/drawingml/2006/main">
            <a:off x="6477000" y="40195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La visión 3 vs. 3 lleva esas armas a un equipo, donde importan la práctica y la coordinación.</a:t>
            </a:r>
          </a:p>
        </p:txBody>
      </p:sp>
    </p:spTree>
    <p:extLst>
      <p:ext uri="{BB962C8B-B14F-4D97-AF65-F5344CB8AC3E}">
        <p14:creationId xmlns:p14="http://schemas.microsoft.com/office/powerpoint/2010/main" val="2094420497"/>
      </p:ext>
    </p:extLst>
  </p:cSld>
</p:sld>
</file>

<file path=ppt/slides/slide3.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3D2587-3F0C-4A68-91D8-183E30BAFF5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El viaje empieza y vuelve al pueblo</a:t>
            </a:r>
          </a:p>
        </p:txBody>
      </p:sp>
      <p:sp>
        <p:nvSpPr>
          <p:cNvPr id="2" name="">
            <a:extLst xmlns:a="http://schemas.openxmlformats.org/drawingml/2006/main">
              <a:ext uri="{FF2B5EF4-FFF2-40B4-BE49-F238E27FC236}">
                <a16:creationId xmlns:a16="http://schemas.microsoft.com/office/drawing/2014/main" id="{F4D80E0D-FA10-411E-B93E-F5FBBCAD5D92}"/>
              </a:ext>
            </a:extLst>
          </p:cNvPr>
          <p:cNvSpPr>
            <a:spLocks xmlns:a="http://schemas.openxmlformats.org/drawingml/2006/main" noGrp="1"/>
          </p:cNvSpPr>
          <p:nvPr/>
        </p:nvSpPr>
        <p:spPr>
          <a:xfrm xmlns:a="http://schemas.openxmlformats.org/drawingml/2006/main">
            <a:off x="609600" y="17145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La salida</a:t>
            </a:r>
          </a:p>
        </p:txBody>
      </p:sp>
      <p:sp>
        <p:nvSpPr>
          <p:cNvPr id="3" name="">
            <a:extLst xmlns:a="http://schemas.openxmlformats.org/drawingml/2006/main">
              <a:ext uri="{FF2B5EF4-FFF2-40B4-BE49-F238E27FC236}">
                <a16:creationId xmlns:a16="http://schemas.microsoft.com/office/drawing/2014/main" id="{C56E9615-7A34-400B-9B3A-75335EDE1207}"/>
              </a:ext>
            </a:extLst>
          </p:cNvPr>
          <p:cNvSpPr>
            <a:spLocks xmlns:a="http://schemas.openxmlformats.org/drawingml/2006/main" noGrp="1"/>
          </p:cNvSpPr>
          <p:nvPr/>
        </p:nvSpPr>
        <p:spPr>
          <a:xfrm xmlns:a="http://schemas.openxmlformats.org/drawingml/2006/main">
            <a:off x="609600" y="2257425"/>
            <a:ext cx="4381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Elegís equipo y explorás. Enemigos, recursos y secretos dan motivos para desviarte.</a:t>
            </a:r>
          </a:p>
        </p:txBody>
      </p:sp>
      <p:sp>
        <p:nvSpPr>
          <p:cNvPr id="4" name="">
            <a:extLst xmlns:a="http://schemas.openxmlformats.org/drawingml/2006/main">
              <a:ext uri="{FF2B5EF4-FFF2-40B4-BE49-F238E27FC236}">
                <a16:creationId xmlns:a16="http://schemas.microsoft.com/office/drawing/2014/main" id="{692E2F15-838D-41B2-AD67-00D34F44C6DB}"/>
              </a:ext>
            </a:extLst>
          </p:cNvPr>
          <p:cNvSpPr>
            <a:spLocks xmlns:a="http://schemas.openxmlformats.org/drawingml/2006/main" noGrp="1"/>
          </p:cNvSpPr>
          <p:nvPr/>
        </p:nvSpPr>
        <p:spPr>
          <a:xfrm xmlns:a="http://schemas.openxmlformats.org/drawingml/2006/main">
            <a:off x="609600" y="39052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El regreso</a:t>
            </a:r>
          </a:p>
        </p:txBody>
      </p:sp>
      <p:sp>
        <p:nvSpPr>
          <p:cNvPr id="5" name="">
            <a:extLst xmlns:a="http://schemas.openxmlformats.org/drawingml/2006/main">
              <a:ext uri="{FF2B5EF4-FFF2-40B4-BE49-F238E27FC236}">
                <a16:creationId xmlns:a16="http://schemas.microsoft.com/office/drawing/2014/main" id="{8F08B311-89B7-43EB-811B-692FBCB59A26}"/>
              </a:ext>
            </a:extLst>
          </p:cNvPr>
          <p:cNvSpPr>
            <a:spLocks xmlns:a="http://schemas.openxmlformats.org/drawingml/2006/main" noGrp="1"/>
          </p:cNvSpPr>
          <p:nvPr/>
        </p:nvSpPr>
        <p:spPr>
          <a:xfrm xmlns:a="http://schemas.openxmlformats.org/drawingml/2006/main">
            <a:off x="609600" y="4448175"/>
            <a:ext cx="4381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Administrás la mochila, guardás lo valioso y preparás la siguiente expedición.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248608863d340ef"/>
          <a:stretch xmlns:a="http://schemas.openxmlformats.org/drawingml/2006/main"/>
        </p:blipFill>
        <p:spPr>
          <a:xfrm xmlns:a="http://schemas.openxmlformats.org/drawingml/2006/main">
            <a:off x="5429250" y="2311616"/>
            <a:ext cx="6191250" cy="280626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7EE2CE2-A65A-4A3C-A93B-41A26727C709}"/>
              </a:ext>
            </a:extLst>
          </p:cNvPr>
          <p:cNvSpPr>
            <a:spLocks xmlns:a="http://schemas.openxmlformats.org/drawingml/2006/main" noGrp="1"/>
          </p:cNvSpPr>
          <p:nvPr/>
        </p:nvSpPr>
        <p:spPr>
          <a:xfrm xmlns:a="http://schemas.openxmlformats.org/drawingml/2006/main">
            <a:off x="5524500" y="57721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C5C1"/>
                </a:solidFill>
                <a:latin typeface="Arial"/>
                <a:ea typeface="Arial"/>
                <a:cs typeface="Arial"/>
              </a:defRPr>
            </a:pPr>
            <a:r>
              <a:rPr sz="1725" b="0">
                <a:solidFill>
                  <a:srgbClr val="B7C5C1"/>
                </a:solidFill>
                <a:latin typeface="Arial"/>
                <a:ea typeface="Arial"/>
                <a:cs typeface="Arial"/>
              </a:rPr>
              <a:t>El pueblo en el prototipo actual</a:t>
            </a:r>
          </a:p>
        </p:txBody>
      </p:sp>
    </p:spTree>
    <p:extLst>
      <p:ext uri="{BB962C8B-B14F-4D97-AF65-F5344CB8AC3E}">
        <p14:creationId xmlns:p14="http://schemas.microsoft.com/office/powerpoint/2010/main" val="226689575"/>
      </p:ext>
    </p:extLst>
  </p:cSld>
</p:sld>
</file>

<file path=ppt/slides/slide4.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DFB460-11E5-470A-964E-17F05839051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Las armas definen las habilidades</a:t>
            </a:r>
          </a:p>
        </p:txBody>
      </p:sp>
      <p:sp>
        <p:nvSpPr>
          <p:cNvPr id="2" name="">
            <a:extLst xmlns:a="http://schemas.openxmlformats.org/drawingml/2006/main">
              <a:ext uri="{FF2B5EF4-FFF2-40B4-BE49-F238E27FC236}">
                <a16:creationId xmlns:a16="http://schemas.microsoft.com/office/drawing/2014/main" id="{F266996A-C59F-4DD9-9D91-68E2B81D1E8B}"/>
              </a:ext>
            </a:extLst>
          </p:cNvPr>
          <p:cNvSpPr>
            <a:spLocks xmlns:a="http://schemas.openxmlformats.org/drawingml/2006/main" noGrp="1"/>
          </p:cNvSpPr>
          <p:nvPr/>
        </p:nvSpPr>
        <p:spPr>
          <a:xfrm xmlns:a="http://schemas.openxmlformats.org/drawingml/2006/main">
            <a:off x="6096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Dos conjuntos alternables</a:t>
            </a:r>
          </a:p>
        </p:txBody>
      </p:sp>
      <p:sp>
        <p:nvSpPr>
          <p:cNvPr id="3" name="">
            <a:extLst xmlns:a="http://schemas.openxmlformats.org/drawingml/2006/main">
              <a:ext uri="{FF2B5EF4-FFF2-40B4-BE49-F238E27FC236}">
                <a16:creationId xmlns:a16="http://schemas.microsoft.com/office/drawing/2014/main" id="{E756DDED-763A-4195-9316-99579EA1C28D}"/>
              </a:ext>
            </a:extLst>
          </p:cNvPr>
          <p:cNvSpPr>
            <a:spLocks xmlns:a="http://schemas.openxmlformats.org/drawingml/2006/main" noGrp="1"/>
          </p:cNvSpPr>
          <p:nvPr/>
        </p:nvSpPr>
        <p:spPr>
          <a:xfrm xmlns:a="http://schemas.openxmlformats.org/drawingml/2006/main">
            <a:off x="609600" y="2257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Cada conjunto define el ataque básico y tres habilidades elegidas de su repertorio.</a:t>
            </a:r>
          </a:p>
        </p:txBody>
      </p:sp>
      <p:sp>
        <p:nvSpPr>
          <p:cNvPr id="4" name="">
            <a:extLst xmlns:a="http://schemas.openxmlformats.org/drawingml/2006/main">
              <a:ext uri="{FF2B5EF4-FFF2-40B4-BE49-F238E27FC236}">
                <a16:creationId xmlns:a16="http://schemas.microsoft.com/office/drawing/2014/main" id="{1F9F0074-D2D0-4BCB-867B-92C9F93AE6BB}"/>
              </a:ext>
            </a:extLst>
          </p:cNvPr>
          <p:cNvSpPr>
            <a:spLocks xmlns:a="http://schemas.openxmlformats.org/drawingml/2006/main" noGrp="1"/>
          </p:cNvSpPr>
          <p:nvPr/>
        </p:nvSpPr>
        <p:spPr>
          <a:xfrm xmlns:a="http://schemas.openxmlformats.org/drawingml/2006/main">
            <a:off x="6477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Cuatro familias actuales</a:t>
            </a:r>
          </a:p>
        </p:txBody>
      </p:sp>
      <p:sp>
        <p:nvSpPr>
          <p:cNvPr id="5" name="">
            <a:extLst xmlns:a="http://schemas.openxmlformats.org/drawingml/2006/main">
              <a:ext uri="{FF2B5EF4-FFF2-40B4-BE49-F238E27FC236}">
                <a16:creationId xmlns:a16="http://schemas.microsoft.com/office/drawing/2014/main" id="{00FE998C-6CAC-43D0-9D2C-3F6E63131535}"/>
              </a:ext>
            </a:extLst>
          </p:cNvPr>
          <p:cNvSpPr>
            <a:spLocks xmlns:a="http://schemas.openxmlformats.org/drawingml/2006/main" noGrp="1"/>
          </p:cNvSpPr>
          <p:nvPr/>
        </p:nvSpPr>
        <p:spPr>
          <a:xfrm xmlns:a="http://schemas.openxmlformats.org/drawingml/2006/main">
            <a:off x="6477000" y="2257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Espada, arco, dos espadas y espada con escudo cambian alcance, ritmo y decisiones.</a:t>
            </a:r>
          </a:p>
        </p:txBody>
      </p:sp>
      <p:sp>
        <p:nvSpPr>
          <p:cNvPr id="6" name="">
            <a:extLst xmlns:a="http://schemas.openxmlformats.org/drawingml/2006/main">
              <a:ext uri="{FF2B5EF4-FFF2-40B4-BE49-F238E27FC236}">
                <a16:creationId xmlns:a16="http://schemas.microsoft.com/office/drawing/2014/main" id="{6F5428E1-B78A-4929-A2BE-0C8AE68B437B}"/>
              </a:ext>
            </a:extLst>
          </p:cNvPr>
          <p:cNvSpPr>
            <a:spLocks xmlns:a="http://schemas.openxmlformats.org/drawingml/2006/main" noGrp="1"/>
          </p:cNvSpPr>
          <p:nvPr/>
        </p:nvSpPr>
        <p:spPr>
          <a:xfrm xmlns:a="http://schemas.openxmlformats.org/drawingml/2006/main">
            <a:off x="609600" y="4143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Un objeto adicional</a:t>
            </a:r>
          </a:p>
        </p:txBody>
      </p:sp>
      <p:sp>
        <p:nvSpPr>
          <p:cNvPr id="7" name="">
            <a:extLst xmlns:a="http://schemas.openxmlformats.org/drawingml/2006/main">
              <a:ext uri="{FF2B5EF4-FFF2-40B4-BE49-F238E27FC236}">
                <a16:creationId xmlns:a16="http://schemas.microsoft.com/office/drawing/2014/main" id="{2BBCC5EB-18B4-43B1-ACD5-10F2D4AA34B8}"/>
              </a:ext>
            </a:extLst>
          </p:cNvPr>
          <p:cNvSpPr>
            <a:spLocks xmlns:a="http://schemas.openxmlformats.org/drawingml/2006/main" noGrp="1"/>
          </p:cNvSpPr>
          <p:nvPr/>
        </p:nvSpPr>
        <p:spPr>
          <a:xfrm xmlns:a="http://schemas.openxmlformats.org/drawingml/2006/main">
            <a:off x="609600" y="468630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Aporta una habilidad extra independiente del arma. El dash es el punto de partida.</a:t>
            </a:r>
          </a:p>
        </p:txBody>
      </p:sp>
      <p:sp>
        <p:nvSpPr>
          <p:cNvPr id="8" name="">
            <a:extLst xmlns:a="http://schemas.openxmlformats.org/drawingml/2006/main">
              <a:ext uri="{FF2B5EF4-FFF2-40B4-BE49-F238E27FC236}">
                <a16:creationId xmlns:a16="http://schemas.microsoft.com/office/drawing/2014/main" id="{461EB969-17A3-463D-A19A-2D8CACFF79DF}"/>
              </a:ext>
            </a:extLst>
          </p:cNvPr>
          <p:cNvSpPr>
            <a:spLocks xmlns:a="http://schemas.openxmlformats.org/drawingml/2006/main" noGrp="1"/>
          </p:cNvSpPr>
          <p:nvPr/>
        </p:nvSpPr>
        <p:spPr>
          <a:xfrm xmlns:a="http://schemas.openxmlformats.org/drawingml/2006/main">
            <a:off x="6477000" y="4143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Un mismo personaje</a:t>
            </a:r>
          </a:p>
        </p:txBody>
      </p:sp>
      <p:sp>
        <p:nvSpPr>
          <p:cNvPr id="9" name="">
            <a:extLst xmlns:a="http://schemas.openxmlformats.org/drawingml/2006/main">
              <a:ext uri="{FF2B5EF4-FFF2-40B4-BE49-F238E27FC236}">
                <a16:creationId xmlns:a16="http://schemas.microsoft.com/office/drawing/2014/main" id="{89E0413B-FD79-4811-B69F-F204FF13FBA5}"/>
              </a:ext>
            </a:extLst>
          </p:cNvPr>
          <p:cNvSpPr>
            <a:spLocks xmlns:a="http://schemas.openxmlformats.org/drawingml/2006/main" noGrp="1"/>
          </p:cNvSpPr>
          <p:nvPr/>
        </p:nvSpPr>
        <p:spPr>
          <a:xfrm xmlns:a="http://schemas.openxmlformats.org/drawingml/2006/main">
            <a:off x="6477000" y="468630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La combinación de equipo permite explorar estilos sin empezar otro personaje.</a:t>
            </a:r>
          </a:p>
        </p:txBody>
      </p:sp>
    </p:spTree>
    <p:extLst>
      <p:ext uri="{BB962C8B-B14F-4D97-AF65-F5344CB8AC3E}">
        <p14:creationId xmlns:p14="http://schemas.microsoft.com/office/powerpoint/2010/main" val="758034360"/>
      </p:ext>
    </p:extLst>
  </p:cSld>
</p:sld>
</file>

<file path=ppt/slides/slide5.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A7446B-A58B-4064-8E41-49FCFCC5D9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Un combate que premia aprender</a:t>
            </a:r>
          </a:p>
        </p:txBody>
      </p:sp>
      <p:sp>
        <p:nvSpPr>
          <p:cNvPr id="2" name="">
            <a:extLst xmlns:a="http://schemas.openxmlformats.org/drawingml/2006/main">
              <a:ext uri="{FF2B5EF4-FFF2-40B4-BE49-F238E27FC236}">
                <a16:creationId xmlns:a16="http://schemas.microsoft.com/office/drawing/2014/main" id="{B34E340E-CC38-4BBF-8DF1-EEF44843BD75}"/>
              </a:ext>
            </a:extLst>
          </p:cNvPr>
          <p:cNvSpPr>
            <a:spLocks xmlns:a="http://schemas.openxmlformats.org/drawingml/2006/main" noGrp="1"/>
          </p:cNvSpPr>
          <p:nvPr/>
        </p:nvSpPr>
        <p:spPr>
          <a:xfrm xmlns:a="http://schemas.openxmlformats.org/drawingml/2006/main">
            <a:off x="609600" y="17145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Leer al enemigo</a:t>
            </a:r>
          </a:p>
        </p:txBody>
      </p:sp>
      <p:sp>
        <p:nvSpPr>
          <p:cNvPr id="3" name="">
            <a:extLst xmlns:a="http://schemas.openxmlformats.org/drawingml/2006/main">
              <a:ext uri="{FF2B5EF4-FFF2-40B4-BE49-F238E27FC236}">
                <a16:creationId xmlns:a16="http://schemas.microsoft.com/office/drawing/2014/main" id="{90C97327-7B80-4549-961E-590E1048D738}"/>
              </a:ext>
            </a:extLst>
          </p:cNvPr>
          <p:cNvSpPr>
            <a:spLocks xmlns:a="http://schemas.openxmlformats.org/drawingml/2006/main" noGrp="1"/>
          </p:cNvSpPr>
          <p:nvPr/>
        </p:nvSpPr>
        <p:spPr>
          <a:xfrm xmlns:a="http://schemas.openxmlformats.org/drawingml/2006/main">
            <a:off x="609600" y="2257425"/>
            <a:ext cx="5429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Reconocer la preparación del ataque y elegir cuándo esquivar, defender o acercarse.</a:t>
            </a:r>
          </a:p>
        </p:txBody>
      </p:sp>
      <p:sp>
        <p:nvSpPr>
          <p:cNvPr id="4" name="">
            <a:extLst xmlns:a="http://schemas.openxmlformats.org/drawingml/2006/main">
              <a:ext uri="{FF2B5EF4-FFF2-40B4-BE49-F238E27FC236}">
                <a16:creationId xmlns:a16="http://schemas.microsoft.com/office/drawing/2014/main" id="{E3B85DD0-5B50-4E1B-B2DF-2B8F611DB715}"/>
              </a:ext>
            </a:extLst>
          </p:cNvPr>
          <p:cNvSpPr>
            <a:spLocks xmlns:a="http://schemas.openxmlformats.org/drawingml/2006/main" noGrp="1"/>
          </p:cNvSpPr>
          <p:nvPr/>
        </p:nvSpPr>
        <p:spPr>
          <a:xfrm xmlns:a="http://schemas.openxmlformats.org/drawingml/2006/main">
            <a:off x="609600" y="3810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Crear una oportunidad</a:t>
            </a:r>
          </a:p>
        </p:txBody>
      </p:sp>
      <p:sp>
        <p:nvSpPr>
          <p:cNvPr id="5" name="">
            <a:extLst xmlns:a="http://schemas.openxmlformats.org/drawingml/2006/main">
              <a:ext uri="{FF2B5EF4-FFF2-40B4-BE49-F238E27FC236}">
                <a16:creationId xmlns:a16="http://schemas.microsoft.com/office/drawing/2014/main" id="{A69F55DD-C3AF-4CB6-A262-7101602899C5}"/>
              </a:ext>
            </a:extLst>
          </p:cNvPr>
          <p:cNvSpPr>
            <a:spLocks xmlns:a="http://schemas.openxmlformats.org/drawingml/2006/main" noGrp="1"/>
          </p:cNvSpPr>
          <p:nvPr/>
        </p:nvSpPr>
        <p:spPr>
          <a:xfrm xmlns:a="http://schemas.openxmlformats.org/drawingml/2006/main">
            <a:off x="609600" y="4352925"/>
            <a:ext cx="5429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Una buena defensa o posición abre espacio para un ataque más comprometido.</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6d6d6f3e5454bc9"/>
          <a:stretch xmlns:a="http://schemas.openxmlformats.org/drawingml/2006/main"/>
        </p:blipFill>
        <p:spPr>
          <a:xfrm xmlns:a="http://schemas.openxmlformats.org/drawingml/2006/main">
            <a:off x="6528046" y="1524000"/>
            <a:ext cx="5136657" cy="233362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3c2693ab8474a4c"/>
          <a:stretch xmlns:a="http://schemas.openxmlformats.org/drawingml/2006/main"/>
        </p:blipFill>
        <p:spPr>
          <a:xfrm xmlns:a="http://schemas.openxmlformats.org/drawingml/2006/main">
            <a:off x="6524625" y="3982187"/>
            <a:ext cx="5143500" cy="2313101"/>
          </a:xfrm>
          <a:prstGeom xmlns:a="http://schemas.openxmlformats.org/drawingml/2006/main" prst="rect">
            <a:avLst/>
          </a:prstGeom>
        </p:spPr>
      </p:pic>
    </p:spTree>
    <p:extLst>
      <p:ext uri="{BB962C8B-B14F-4D97-AF65-F5344CB8AC3E}">
        <p14:creationId xmlns:p14="http://schemas.microsoft.com/office/powerpoint/2010/main" val="184507988"/>
      </p:ext>
    </p:extLst>
  </p:cSld>
</p:sld>
</file>

<file path=ppt/slides/slide6.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0E3125-0D8E-4FCB-BFD2-B6515BD0C33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 exploración también crea vínculos</a:t>
            </a:r>
          </a:p>
        </p:txBody>
      </p:sp>
      <p:sp>
        <p:nvSpPr>
          <p:cNvPr id="2" name="">
            <a:extLst xmlns:a="http://schemas.openxmlformats.org/drawingml/2006/main">
              <a:ext uri="{FF2B5EF4-FFF2-40B4-BE49-F238E27FC236}">
                <a16:creationId xmlns:a16="http://schemas.microsoft.com/office/drawing/2014/main" id="{85363414-3C32-4C8A-B7EE-E46023B18665}"/>
              </a:ext>
            </a:extLst>
          </p:cNvPr>
          <p:cNvSpPr>
            <a:spLocks xmlns:a="http://schemas.openxmlformats.org/drawingml/2006/main" noGrp="1"/>
          </p:cNvSpPr>
          <p:nvPr/>
        </p:nvSpPr>
        <p:spPr>
          <a:xfrm xmlns:a="http://schemas.openxmlformats.org/drawingml/2006/main">
            <a:off x="609600" y="1543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6BF75"/>
                </a:solidFill>
                <a:latin typeface="Arial"/>
                <a:ea typeface="Arial"/>
                <a:cs typeface="Arial"/>
              </a:defRPr>
            </a:pPr>
            <a:r>
              <a:rPr sz="2550" b="0">
                <a:solidFill>
                  <a:srgbClr val="E6BF75"/>
                </a:solidFill>
                <a:latin typeface="Arial"/>
                <a:ea typeface="Arial"/>
                <a:cs typeface="Arial"/>
              </a:rPr>
              <a:t>Un encuentro puede terminar con un nuevo compañero de viaje.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19ead7a19fd46e2"/>
          <a:stretch xmlns:a="http://schemas.openxmlformats.org/drawingml/2006/main"/>
        </p:blipFill>
        <p:spPr>
          <a:xfrm xmlns:a="http://schemas.openxmlformats.org/drawingml/2006/main">
            <a:off x="609600" y="2613944"/>
            <a:ext cx="5286375" cy="2392112"/>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8e02057baaf42b2"/>
          <a:stretch xmlns:a="http://schemas.openxmlformats.org/drawingml/2006/main"/>
        </p:blipFill>
        <p:spPr>
          <a:xfrm xmlns:a="http://schemas.openxmlformats.org/drawingml/2006/main">
            <a:off x="6334125" y="2629238"/>
            <a:ext cx="5286375" cy="23615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7FC4D4-D2F3-4DD6-A49B-C265EC0D7DBC}"/>
              </a:ext>
            </a:extLst>
          </p:cNvPr>
          <p:cNvSpPr>
            <a:spLocks xmlns:a="http://schemas.openxmlformats.org/drawingml/2006/main" noGrp="1"/>
          </p:cNvSpPr>
          <p:nvPr/>
        </p:nvSpPr>
        <p:spPr>
          <a:xfrm xmlns:a="http://schemas.openxmlformats.org/drawingml/2006/main">
            <a:off x="609600" y="533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1F0E7"/>
                </a:solidFill>
                <a:latin typeface="Arial"/>
                <a:ea typeface="Arial"/>
                <a:cs typeface="Arial"/>
              </a:defRPr>
            </a:pPr>
            <a:r>
              <a:rPr sz="2025" b="1">
                <a:solidFill>
                  <a:srgbClr val="F1F0E7"/>
                </a:solidFill>
                <a:latin typeface="Arial"/>
                <a:ea typeface="Arial"/>
                <a:cs typeface="Arial"/>
              </a:rPr>
              <a:t>Reconocimiento de la criatura</a:t>
            </a:r>
          </a:p>
        </p:txBody>
      </p:sp>
      <p:sp>
        <p:nvSpPr>
          <p:cNvPr id="6" name="">
            <a:extLst xmlns:a="http://schemas.openxmlformats.org/drawingml/2006/main">
              <a:ext uri="{FF2B5EF4-FFF2-40B4-BE49-F238E27FC236}">
                <a16:creationId xmlns:a16="http://schemas.microsoft.com/office/drawing/2014/main" id="{4DA05380-DEC6-4B21-B6B3-2970850CD33D}"/>
              </a:ext>
            </a:extLst>
          </p:cNvPr>
          <p:cNvSpPr>
            <a:spLocks xmlns:a="http://schemas.openxmlformats.org/drawingml/2006/main" noGrp="1"/>
          </p:cNvSpPr>
          <p:nvPr/>
        </p:nvSpPr>
        <p:spPr>
          <a:xfrm xmlns:a="http://schemas.openxmlformats.org/drawingml/2006/main">
            <a:off x="6334125" y="533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1F0E7"/>
                </a:solidFill>
                <a:latin typeface="Arial"/>
                <a:ea typeface="Arial"/>
                <a:cs typeface="Arial"/>
              </a:defRPr>
            </a:pPr>
            <a:r>
              <a:rPr sz="2025" b="1">
                <a:solidFill>
                  <a:srgbClr val="F1F0E7"/>
                </a:solidFill>
                <a:latin typeface="Arial"/>
                <a:ea typeface="Arial"/>
                <a:cs typeface="Arial"/>
              </a:rPr>
              <a:t>Primera montura: el jabalí</a:t>
            </a:r>
          </a:p>
        </p:txBody>
      </p:sp>
      <p:sp>
        <p:nvSpPr>
          <p:cNvPr id="7" name="">
            <a:extLst xmlns:a="http://schemas.openxmlformats.org/drawingml/2006/main">
              <a:ext uri="{FF2B5EF4-FFF2-40B4-BE49-F238E27FC236}">
                <a16:creationId xmlns:a16="http://schemas.microsoft.com/office/drawing/2014/main" id="{E37ACD84-42ED-4E57-A16A-8322D447EE27}"/>
              </a:ext>
            </a:extLst>
          </p:cNvPr>
          <p:cNvSpPr>
            <a:spLocks xmlns:a="http://schemas.openxmlformats.org/drawingml/2006/main" noGrp="1"/>
          </p:cNvSpPr>
          <p:nvPr/>
        </p:nvSpPr>
        <p:spPr>
          <a:xfrm xmlns:a="http://schemas.openxmlformats.org/drawingml/2006/main">
            <a:off x="609600" y="6057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C5C1"/>
                </a:solidFill>
                <a:latin typeface="Arial"/>
                <a:ea typeface="Arial"/>
                <a:cs typeface="Arial"/>
              </a:defRPr>
            </a:pPr>
            <a:r>
              <a:rPr sz="1875" b="0">
                <a:solidFill>
                  <a:srgbClr val="B7C5C1"/>
                </a:solidFill>
                <a:latin typeface="Arial"/>
                <a:ea typeface="Arial"/>
                <a:cs typeface="Arial"/>
              </a:rPr>
              <a:t>Sistema presente en el prototipo, con movimiento y navegación por pulir.</a:t>
            </a:r>
          </a:p>
        </p:txBody>
      </p:sp>
    </p:spTree>
    <p:extLst>
      <p:ext uri="{BB962C8B-B14F-4D97-AF65-F5344CB8AC3E}">
        <p14:creationId xmlns:p14="http://schemas.microsoft.com/office/powerpoint/2010/main" val="1532382456"/>
      </p:ext>
    </p:extLst>
  </p:cSld>
</p:sld>
</file>

<file path=ppt/slides/slide7.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113E1A-04D7-4408-80EF-601BC349042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Un arma rara puede cambiar la próxima salida</a:t>
            </a:r>
          </a:p>
        </p:txBody>
      </p:sp>
      <p:sp>
        <p:nvSpPr>
          <p:cNvPr id="2" name="">
            <a:extLst xmlns:a="http://schemas.openxmlformats.org/drawingml/2006/main">
              <a:ext uri="{FF2B5EF4-FFF2-40B4-BE49-F238E27FC236}">
                <a16:creationId xmlns:a16="http://schemas.microsoft.com/office/drawing/2014/main" id="{864EF9F5-1DA9-49B2-BE8B-43C55ACDE03E}"/>
              </a:ext>
            </a:extLst>
          </p:cNvPr>
          <p:cNvSpPr>
            <a:spLocks xmlns:a="http://schemas.openxmlformats.org/drawingml/2006/main" noGrp="1"/>
          </p:cNvSpPr>
          <p:nvPr/>
        </p:nvSpPr>
        <p:spPr>
          <a:xfrm xmlns:a="http://schemas.openxmlformats.org/drawingml/2006/main">
            <a:off x="609600" y="1495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6BF75"/>
                </a:solidFill>
                <a:latin typeface="Arial"/>
                <a:ea typeface="Arial"/>
                <a:cs typeface="Arial"/>
              </a:defRPr>
            </a:pPr>
            <a:r>
              <a:rPr sz="1875" b="0">
                <a:solidFill>
                  <a:srgbClr val="E6BF75"/>
                </a:solidFill>
                <a:latin typeface="Arial"/>
                <a:ea typeface="Arial"/>
                <a:cs typeface="Arial"/>
              </a:rPr>
              <a:t>Visión en exploración</a:t>
            </a:r>
          </a:p>
        </p:txBody>
      </p:sp>
      <p:sp>
        <p:nvSpPr>
          <p:cNvPr id="3" name="">
            <a:extLst xmlns:a="http://schemas.openxmlformats.org/drawingml/2006/main">
              <a:ext uri="{FF2B5EF4-FFF2-40B4-BE49-F238E27FC236}">
                <a16:creationId xmlns:a16="http://schemas.microsoft.com/office/drawing/2014/main" id="{0F4FB6BC-A3CE-4FF9-934D-BD28735B8354}"/>
              </a:ext>
            </a:extLst>
          </p:cNvPr>
          <p:cNvSpPr>
            <a:spLocks xmlns:a="http://schemas.openxmlformats.org/drawingml/2006/main" noGrp="1"/>
          </p:cNvSpPr>
          <p:nvPr/>
        </p:nvSpPr>
        <p:spPr>
          <a:xfrm xmlns:a="http://schemas.openxmlformats.org/drawingml/2006/main">
            <a:off x="609600" y="2333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Encontrarla</a:t>
            </a:r>
          </a:p>
        </p:txBody>
      </p:sp>
      <p:sp>
        <p:nvSpPr>
          <p:cNvPr id="4" name="">
            <a:extLst xmlns:a="http://schemas.openxmlformats.org/drawingml/2006/main">
              <a:ext uri="{FF2B5EF4-FFF2-40B4-BE49-F238E27FC236}">
                <a16:creationId xmlns:a16="http://schemas.microsoft.com/office/drawing/2014/main" id="{7F3373DF-D70E-4EEA-A294-5F827080A9C2}"/>
              </a:ext>
            </a:extLst>
          </p:cNvPr>
          <p:cNvSpPr>
            <a:spLocks xmlns:a="http://schemas.openxmlformats.org/drawingml/2006/main" noGrp="1"/>
          </p:cNvSpPr>
          <p:nvPr/>
        </p:nvSpPr>
        <p:spPr>
          <a:xfrm xmlns:a="http://schemas.openxmlformats.org/drawingml/2006/main">
            <a:off x="609600" y="28765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Buscar armas mientras explorás y combatís. Algunas podrían tener movimientos propios.</a:t>
            </a:r>
          </a:p>
        </p:txBody>
      </p:sp>
      <p:sp>
        <p:nvSpPr>
          <p:cNvPr id="5" name="">
            <a:extLst xmlns:a="http://schemas.openxmlformats.org/drawingml/2006/main">
              <a:ext uri="{FF2B5EF4-FFF2-40B4-BE49-F238E27FC236}">
                <a16:creationId xmlns:a16="http://schemas.microsoft.com/office/drawing/2014/main" id="{0154F02B-4EDF-43FC-B227-87ACCF7DB587}"/>
              </a:ext>
            </a:extLst>
          </p:cNvPr>
          <p:cNvSpPr>
            <a:spLocks xmlns:a="http://schemas.openxmlformats.org/drawingml/2006/main" noGrp="1"/>
          </p:cNvSpPr>
          <p:nvPr/>
        </p:nvSpPr>
        <p:spPr>
          <a:xfrm xmlns:a="http://schemas.openxmlformats.org/drawingml/2006/main">
            <a:off x="6477000" y="2333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Aprender a usarla</a:t>
            </a:r>
          </a:p>
        </p:txBody>
      </p:sp>
      <p:sp>
        <p:nvSpPr>
          <p:cNvPr id="6" name="">
            <a:extLst xmlns:a="http://schemas.openxmlformats.org/drawingml/2006/main">
              <a:ext uri="{FF2B5EF4-FFF2-40B4-BE49-F238E27FC236}">
                <a16:creationId xmlns:a16="http://schemas.microsoft.com/office/drawing/2014/main" id="{DFF04384-031C-4936-914A-6F57E5F04AAB}"/>
              </a:ext>
            </a:extLst>
          </p:cNvPr>
          <p:cNvSpPr>
            <a:spLocks xmlns:a="http://schemas.openxmlformats.org/drawingml/2006/main" noGrp="1"/>
          </p:cNvSpPr>
          <p:nvPr/>
        </p:nvSpPr>
        <p:spPr>
          <a:xfrm xmlns:a="http://schemas.openxmlformats.org/drawingml/2006/main">
            <a:off x="6477000" y="28765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Descubrir su alcance, sus aperturas y con qué otro equipo combina mejor.</a:t>
            </a:r>
          </a:p>
        </p:txBody>
      </p:sp>
      <p:sp>
        <p:nvSpPr>
          <p:cNvPr id="7" name="">
            <a:extLst xmlns:a="http://schemas.openxmlformats.org/drawingml/2006/main">
              <a:ext uri="{FF2B5EF4-FFF2-40B4-BE49-F238E27FC236}">
                <a16:creationId xmlns:a16="http://schemas.microsoft.com/office/drawing/2014/main" id="{59803FDD-7123-4C0A-8225-DAF12A419385}"/>
              </a:ext>
            </a:extLst>
          </p:cNvPr>
          <p:cNvSpPr>
            <a:spLocks xmlns:a="http://schemas.openxmlformats.org/drawingml/2006/main" noGrp="1"/>
          </p:cNvSpPr>
          <p:nvPr/>
        </p:nvSpPr>
        <p:spPr>
          <a:xfrm xmlns:a="http://schemas.openxmlformats.org/drawingml/2006/main">
            <a:off x="609600" y="47434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6BF75"/>
                </a:solidFill>
                <a:latin typeface="Arial"/>
                <a:ea typeface="Arial"/>
                <a:cs typeface="Arial"/>
              </a:defRPr>
            </a:pPr>
            <a:r>
              <a:rPr sz="2700" b="1">
                <a:solidFill>
                  <a:srgbClr val="E6BF75"/>
                </a:solidFill>
                <a:latin typeface="Arial"/>
                <a:ea typeface="Arial"/>
                <a:cs typeface="Arial"/>
              </a:rPr>
              <a:t>Llevarla a la arena sería posible solo si la tenés en tu inventario.</a:t>
            </a:r>
          </a:p>
        </p:txBody>
      </p:sp>
      <p:sp>
        <p:nvSpPr>
          <p:cNvPr id="8" name="">
            <a:extLst xmlns:a="http://schemas.openxmlformats.org/drawingml/2006/main">
              <a:ext uri="{FF2B5EF4-FFF2-40B4-BE49-F238E27FC236}">
                <a16:creationId xmlns:a16="http://schemas.microsoft.com/office/drawing/2014/main" id="{2BB91F64-5D1B-412B-B895-537CF0EB8E4B}"/>
              </a:ext>
            </a:extLst>
          </p:cNvPr>
          <p:cNvSpPr>
            <a:spLocks xmlns:a="http://schemas.openxmlformats.org/drawingml/2006/main" noGrp="1"/>
          </p:cNvSpPr>
          <p:nvPr/>
        </p:nvSpPr>
        <p:spPr>
          <a:xfrm xmlns:a="http://schemas.openxmlformats.org/drawingml/2006/main">
            <a:off x="609600" y="60293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5C1"/>
                </a:solidFill>
                <a:latin typeface="Arial"/>
                <a:ea typeface="Arial"/>
                <a:cs typeface="Arial"/>
              </a:defRPr>
            </a:pPr>
            <a:r>
              <a:rPr sz="1800" b="0">
                <a:solidFill>
                  <a:srgbClr val="B7C5C1"/>
                </a:solidFill>
                <a:latin typeface="Arial"/>
                <a:ea typeface="Arial"/>
                <a:cs typeface="Arial"/>
              </a:rPr>
              <a:t>Rareza y condiciones de obtención todavía por definir.</a:t>
            </a:r>
          </a:p>
        </p:txBody>
      </p:sp>
    </p:spTree>
    <p:extLst>
      <p:ext uri="{BB962C8B-B14F-4D97-AF65-F5344CB8AC3E}">
        <p14:creationId xmlns:p14="http://schemas.microsoft.com/office/powerpoint/2010/main" val="1628063072"/>
      </p:ext>
    </p:extLst>
  </p:cSld>
</p:sld>
</file>

<file path=ppt/slides/slide8.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8B08AF-4EF2-4A87-99BE-72C10825F8F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 expansión: arena 3 vs. 3</a:t>
            </a:r>
          </a:p>
        </p:txBody>
      </p:sp>
      <p:sp>
        <p:nvSpPr>
          <p:cNvPr id="2" name="">
            <a:extLst xmlns:a="http://schemas.openxmlformats.org/drawingml/2006/main">
              <a:ext uri="{FF2B5EF4-FFF2-40B4-BE49-F238E27FC236}">
                <a16:creationId xmlns:a16="http://schemas.microsoft.com/office/drawing/2014/main" id="{4A595E20-D95A-4162-ABDC-9BF8A4E984C0}"/>
              </a:ext>
            </a:extLst>
          </p:cNvPr>
          <p:cNvSpPr>
            <a:spLocks xmlns:a="http://schemas.openxmlformats.org/drawingml/2006/main" noGrp="1"/>
          </p:cNvSpPr>
          <p:nvPr/>
        </p:nvSpPr>
        <p:spPr>
          <a:xfrm xmlns:a="http://schemas.openxmlformats.org/drawingml/2006/main">
            <a:off x="609600" y="18573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E6BF75"/>
                </a:solidFill>
                <a:latin typeface="Arial"/>
                <a:ea typeface="Arial"/>
                <a:cs typeface="Arial"/>
              </a:defRPr>
            </a:pPr>
            <a:r>
              <a:rPr sz="7650" b="1">
                <a:solidFill>
                  <a:srgbClr val="E6BF75"/>
                </a:solidFill>
                <a:latin typeface="Arial"/>
                <a:ea typeface="Arial"/>
                <a:cs typeface="Arial"/>
              </a:rPr>
              <a:t>3 vs. 3</a:t>
            </a:r>
          </a:p>
        </p:txBody>
      </p:sp>
      <p:sp>
        <p:nvSpPr>
          <p:cNvPr id="3" name="">
            <a:extLst xmlns:a="http://schemas.openxmlformats.org/drawingml/2006/main">
              <a:ext uri="{FF2B5EF4-FFF2-40B4-BE49-F238E27FC236}">
                <a16:creationId xmlns:a16="http://schemas.microsoft.com/office/drawing/2014/main" id="{983E298B-9222-48CA-8750-92F3B618A1FD}"/>
              </a:ext>
            </a:extLst>
          </p:cNvPr>
          <p:cNvSpPr>
            <a:spLocks xmlns:a="http://schemas.openxmlformats.org/drawingml/2006/main" noGrp="1"/>
          </p:cNvSpPr>
          <p:nvPr/>
        </p:nvSpPr>
        <p:spPr>
          <a:xfrm xmlns:a="http://schemas.openxmlformats.org/drawingml/2006/main">
            <a:off x="609600" y="3333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1F0E7"/>
                </a:solidFill>
                <a:latin typeface="Arial"/>
                <a:ea typeface="Arial"/>
                <a:cs typeface="Arial"/>
              </a:defRPr>
            </a:pPr>
            <a:r>
              <a:rPr sz="2700" b="0">
                <a:solidFill>
                  <a:srgbClr val="F1F0E7"/>
                </a:solidFill>
                <a:latin typeface="Arial"/>
                <a:ea typeface="Arial"/>
                <a:cs typeface="Arial"/>
              </a:rPr>
              <a:t>Tu equipo del mundo</a:t>
            </a:r>
          </a:p>
          <a:p xmlns:a="http://schemas.openxmlformats.org/drawingml/2006/main">
            <a:pPr>
              <a:defRPr sz="2700" b="0">
                <a:solidFill>
                  <a:srgbClr val="F1F0E7"/>
                </a:solidFill>
                <a:latin typeface="Arial"/>
                <a:ea typeface="Arial"/>
                <a:cs typeface="Arial"/>
              </a:defRPr>
            </a:pPr>
            <a:r>
              <a:rPr sz="2700" b="0">
                <a:solidFill>
                  <a:srgbClr val="F1F0E7"/>
                </a:solidFill>
                <a:latin typeface="Arial"/>
                <a:ea typeface="Arial"/>
                <a:cs typeface="Arial"/>
              </a:rPr>
              <a:t>entra en juego con otros.</a:t>
            </a:r>
          </a:p>
        </p:txBody>
      </p:sp>
      <p:sp>
        <p:nvSpPr>
          <p:cNvPr id="4" name="">
            <a:extLst xmlns:a="http://schemas.openxmlformats.org/drawingml/2006/main">
              <a:ext uri="{FF2B5EF4-FFF2-40B4-BE49-F238E27FC236}">
                <a16:creationId xmlns:a16="http://schemas.microsoft.com/office/drawing/2014/main" id="{2A1487C4-8283-45C9-8F69-882450AF3109}"/>
              </a:ext>
            </a:extLst>
          </p:cNvPr>
          <p:cNvSpPr>
            <a:spLocks xmlns:a="http://schemas.openxmlformats.org/drawingml/2006/main" noGrp="1"/>
          </p:cNvSpPr>
          <p:nvPr/>
        </p:nvSpPr>
        <p:spPr>
          <a:xfrm xmlns:a="http://schemas.openxmlformats.org/drawingml/2006/main">
            <a:off x="6572250" y="1714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Antes de la partida</a:t>
            </a:r>
          </a:p>
        </p:txBody>
      </p:sp>
      <p:sp>
        <p:nvSpPr>
          <p:cNvPr id="5" name="">
            <a:extLst xmlns:a="http://schemas.openxmlformats.org/drawingml/2006/main">
              <a:ext uri="{FF2B5EF4-FFF2-40B4-BE49-F238E27FC236}">
                <a16:creationId xmlns:a16="http://schemas.microsoft.com/office/drawing/2014/main" id="{2FF5FBC8-9E02-4F0A-8C22-095397C5BAE4}"/>
              </a:ext>
            </a:extLst>
          </p:cNvPr>
          <p:cNvSpPr>
            <a:spLocks xmlns:a="http://schemas.openxmlformats.org/drawingml/2006/main" noGrp="1"/>
          </p:cNvSpPr>
          <p:nvPr/>
        </p:nvSpPr>
        <p:spPr>
          <a:xfrm xmlns:a="http://schemas.openxmlformats.org/drawingml/2006/main">
            <a:off x="6572250" y="2257425"/>
            <a:ext cx="4953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Elegís armas, el objeto de habilidad extra y consumibles iniciales limitados.</a:t>
            </a:r>
          </a:p>
        </p:txBody>
      </p:sp>
      <p:sp>
        <p:nvSpPr>
          <p:cNvPr id="6" name="">
            <a:extLst xmlns:a="http://schemas.openxmlformats.org/drawingml/2006/main">
              <a:ext uri="{FF2B5EF4-FFF2-40B4-BE49-F238E27FC236}">
                <a16:creationId xmlns:a16="http://schemas.microsoft.com/office/drawing/2014/main" id="{346D9362-852C-4343-8E84-32857CF2C20F}"/>
              </a:ext>
            </a:extLst>
          </p:cNvPr>
          <p:cNvSpPr>
            <a:spLocks xmlns:a="http://schemas.openxmlformats.org/drawingml/2006/main" noGrp="1"/>
          </p:cNvSpPr>
          <p:nvPr/>
        </p:nvSpPr>
        <p:spPr>
          <a:xfrm xmlns:a="http://schemas.openxmlformats.org/drawingml/2006/main">
            <a:off x="6572250" y="38862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Durante la partida</a:t>
            </a:r>
          </a:p>
        </p:txBody>
      </p:sp>
      <p:sp>
        <p:nvSpPr>
          <p:cNvPr id="7" name="">
            <a:extLst xmlns:a="http://schemas.openxmlformats.org/drawingml/2006/main">
              <a:ext uri="{FF2B5EF4-FFF2-40B4-BE49-F238E27FC236}">
                <a16:creationId xmlns:a16="http://schemas.microsoft.com/office/drawing/2014/main" id="{0410D5C2-0AFB-4D1C-B37B-F22169E17CD3}"/>
              </a:ext>
            </a:extLst>
          </p:cNvPr>
          <p:cNvSpPr>
            <a:spLocks xmlns:a="http://schemas.openxmlformats.org/drawingml/2006/main" noGrp="1"/>
          </p:cNvSpPr>
          <p:nvPr/>
        </p:nvSpPr>
        <p:spPr>
          <a:xfrm xmlns:a="http://schemas.openxmlformats.org/drawingml/2006/main">
            <a:off x="6572250" y="4429125"/>
            <a:ext cx="4953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Combinás tu repertorio con el de tus compañeros y decidís cuándo gastar recursos.</a:t>
            </a:r>
          </a:p>
        </p:txBody>
      </p:sp>
      <p:sp>
        <p:nvSpPr>
          <p:cNvPr id="8" name="">
            <a:extLst xmlns:a="http://schemas.openxmlformats.org/drawingml/2006/main">
              <a:ext uri="{FF2B5EF4-FFF2-40B4-BE49-F238E27FC236}">
                <a16:creationId xmlns:a16="http://schemas.microsoft.com/office/drawing/2014/main" id="{89AD996F-CA32-4E72-8F3A-23422A5C8292}"/>
              </a:ext>
            </a:extLst>
          </p:cNvPr>
          <p:cNvSpPr>
            <a:spLocks xmlns:a="http://schemas.openxmlformats.org/drawingml/2006/main" noGrp="1"/>
          </p:cNvSpPr>
          <p:nvPr/>
        </p:nvSpPr>
        <p:spPr>
          <a:xfrm xmlns:a="http://schemas.openxmlformats.org/drawingml/2006/main">
            <a:off x="609600" y="61055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5C1"/>
                </a:solidFill>
                <a:latin typeface="Arial"/>
                <a:ea typeface="Arial"/>
                <a:cs typeface="Arial"/>
              </a:defRPr>
            </a:pPr>
            <a:r>
              <a:rPr sz="1800" b="0">
                <a:solidFill>
                  <a:srgbClr val="B7C5C1"/>
                </a:solidFill>
                <a:latin typeface="Arial"/>
                <a:ea typeface="Arial"/>
                <a:cs typeface="Arial"/>
              </a:rPr>
              <a:t>Expansión futura. Requiere multijugador y pruebas propias.</a:t>
            </a:r>
          </a:p>
        </p:txBody>
      </p:sp>
    </p:spTree>
    <p:extLst>
      <p:ext uri="{BB962C8B-B14F-4D97-AF65-F5344CB8AC3E}">
        <p14:creationId xmlns:p14="http://schemas.microsoft.com/office/powerpoint/2010/main" val="62908019"/>
      </p:ext>
    </p:extLst>
  </p:cSld>
</p:sld>
</file>

<file path=ppt/slides/slide9.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8CD797-A02D-4825-9AFA-339311AB829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 decisión clave del PvP: acceso y equilibrio</a:t>
            </a:r>
          </a:p>
        </p:txBody>
      </p:sp>
      <p:sp>
        <p:nvSpPr>
          <p:cNvPr id="2" name="">
            <a:extLst xmlns:a="http://schemas.openxmlformats.org/drawingml/2006/main">
              <a:ext uri="{FF2B5EF4-FFF2-40B4-BE49-F238E27FC236}">
                <a16:creationId xmlns:a16="http://schemas.microsoft.com/office/drawing/2014/main" id="{F7441FAA-9741-48F2-9D5A-E17C075C29A5}"/>
              </a:ext>
            </a:extLst>
          </p:cNvPr>
          <p:cNvSpPr>
            <a:spLocks xmlns:a="http://schemas.openxmlformats.org/drawingml/2006/main" noGrp="1"/>
          </p:cNvSpPr>
          <p:nvPr/>
        </p:nvSpPr>
        <p:spPr>
          <a:xfrm xmlns:a="http://schemas.openxmlformats.org/drawingml/2006/main">
            <a:off x="609600" y="17145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Lo que queremos conservar</a:t>
            </a:r>
          </a:p>
        </p:txBody>
      </p:sp>
      <p:sp>
        <p:nvSpPr>
          <p:cNvPr id="3" name="">
            <a:extLst xmlns:a="http://schemas.openxmlformats.org/drawingml/2006/main">
              <a:ext uri="{FF2B5EF4-FFF2-40B4-BE49-F238E27FC236}">
                <a16:creationId xmlns:a16="http://schemas.microsoft.com/office/drawing/2014/main" id="{A68CC85F-68C8-4439-9BEE-81A6D598699C}"/>
              </a:ext>
            </a:extLst>
          </p:cNvPr>
          <p:cNvSpPr>
            <a:spLocks xmlns:a="http://schemas.openxmlformats.org/drawingml/2006/main" noGrp="1"/>
          </p:cNvSpPr>
          <p:nvPr/>
        </p:nvSpPr>
        <p:spPr>
          <a:xfrm xmlns:a="http://schemas.openxmlformats.org/drawingml/2006/main">
            <a:off x="609600" y="2257425"/>
            <a:ext cx="5143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La satisfacción de encontrar un arma y llevar una combinación propia al online.</a:t>
            </a:r>
          </a:p>
        </p:txBody>
      </p:sp>
      <p:sp>
        <p:nvSpPr>
          <p:cNvPr id="4" name="">
            <a:extLst xmlns:a="http://schemas.openxmlformats.org/drawingml/2006/main">
              <a:ext uri="{FF2B5EF4-FFF2-40B4-BE49-F238E27FC236}">
                <a16:creationId xmlns:a16="http://schemas.microsoft.com/office/drawing/2014/main" id="{B40750A3-F412-4CB6-AC7A-3B932DFB9232}"/>
              </a:ext>
            </a:extLst>
          </p:cNvPr>
          <p:cNvSpPr>
            <a:spLocks xmlns:a="http://schemas.openxmlformats.org/drawingml/2006/main" noGrp="1"/>
          </p:cNvSpPr>
          <p:nvPr/>
        </p:nvSpPr>
        <p:spPr>
          <a:xfrm xmlns:a="http://schemas.openxmlformats.org/drawingml/2006/main">
            <a:off x="6477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Lo que debemos resolver</a:t>
            </a:r>
          </a:p>
        </p:txBody>
      </p:sp>
      <p:sp>
        <p:nvSpPr>
          <p:cNvPr id="5" name="">
            <a:extLst xmlns:a="http://schemas.openxmlformats.org/drawingml/2006/main">
              <a:ext uri="{FF2B5EF4-FFF2-40B4-BE49-F238E27FC236}">
                <a16:creationId xmlns:a16="http://schemas.microsoft.com/office/drawing/2014/main" id="{A3FAE206-7E9C-4931-8E79-E461CE38FD6E}"/>
              </a:ext>
            </a:extLst>
          </p:cNvPr>
          <p:cNvSpPr>
            <a:spLocks xmlns:a="http://schemas.openxmlformats.org/drawingml/2006/main" noGrp="1"/>
          </p:cNvSpPr>
          <p:nvPr/>
        </p:nvSpPr>
        <p:spPr>
          <a:xfrm xmlns:a="http://schemas.openxmlformats.org/drawingml/2006/main">
            <a:off x="6477000" y="2257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Cuánto influye el tiempo de farmeo frente a la habilidad del jugador y del equipo.</a:t>
            </a:r>
          </a:p>
        </p:txBody>
      </p:sp>
      <p:sp>
        <p:nvSpPr>
          <p:cNvPr id="6" name="">
            <a:extLst xmlns:a="http://schemas.openxmlformats.org/drawingml/2006/main">
              <a:ext uri="{FF2B5EF4-FFF2-40B4-BE49-F238E27FC236}">
                <a16:creationId xmlns:a16="http://schemas.microsoft.com/office/drawing/2014/main" id="{0E3BF132-5FCA-4E28-AE83-716AA8BF8663}"/>
              </a:ext>
            </a:extLst>
          </p:cNvPr>
          <p:cNvSpPr>
            <a:spLocks xmlns:a="http://schemas.openxmlformats.org/drawingml/2006/main" noGrp="1"/>
          </p:cNvSpPr>
          <p:nvPr/>
        </p:nvSpPr>
        <p:spPr>
          <a:xfrm xmlns:a="http://schemas.openxmlformats.org/drawingml/2006/main">
            <a:off x="609600" y="4048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Propuesta para probar</a:t>
            </a:r>
          </a:p>
        </p:txBody>
      </p:sp>
      <p:sp>
        <p:nvSpPr>
          <p:cNvPr id="7" name="">
            <a:extLst xmlns:a="http://schemas.openxmlformats.org/drawingml/2006/main">
              <a:ext uri="{FF2B5EF4-FFF2-40B4-BE49-F238E27FC236}">
                <a16:creationId xmlns:a16="http://schemas.microsoft.com/office/drawing/2014/main" id="{1458EC12-4328-4589-87E4-B997EADE1005}"/>
              </a:ext>
            </a:extLst>
          </p:cNvPr>
          <p:cNvSpPr>
            <a:spLocks xmlns:a="http://schemas.openxmlformats.org/drawingml/2006/main" noGrp="1"/>
          </p:cNvSpPr>
          <p:nvPr/>
        </p:nvSpPr>
        <p:spPr>
          <a:xfrm xmlns:a="http://schemas.openxmlformats.org/drawingml/2006/main">
            <a:off x="609600" y="46291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1F0E7"/>
                </a:solidFill>
                <a:latin typeface="Arial"/>
                <a:ea typeface="Arial"/>
                <a:cs typeface="Arial"/>
              </a:defRPr>
            </a:pPr>
            <a:r>
              <a:rPr sz="2550" b="0">
                <a:solidFill>
                  <a:srgbClr val="F1F0E7"/>
                </a:solidFill>
                <a:latin typeface="Arial"/>
                <a:ea typeface="Arial"/>
                <a:cs typeface="Arial"/>
              </a:rPr>
              <a:t>Conservar movimientos únicos, ensayar estadísticas normalizadas y fijar un cupo de consumibles por partida.</a:t>
            </a:r>
          </a:p>
        </p:txBody>
      </p:sp>
    </p:spTree>
    <p:extLst>
      <p:ext uri="{BB962C8B-B14F-4D97-AF65-F5344CB8AC3E}">
        <p14:creationId xmlns:p14="http://schemas.microsoft.com/office/powerpoint/2010/main" val="1553199483"/>
      </p:ext>
    </p:extLst>
  </p:cSld>
</p:sld>
</file>

<file path=ppt/slides/slide10.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98AB16-2E33-4A2E-800B-A042A7965B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Ya existe una base en Unity</a:t>
            </a:r>
          </a:p>
        </p:txBody>
      </p:sp>
      <p:sp>
        <p:nvSpPr>
          <p:cNvPr id="2" name="">
            <a:extLst xmlns:a="http://schemas.openxmlformats.org/drawingml/2006/main">
              <a:ext uri="{FF2B5EF4-FFF2-40B4-BE49-F238E27FC236}">
                <a16:creationId xmlns:a16="http://schemas.microsoft.com/office/drawing/2014/main" id="{89B97277-739E-43D3-8AA7-AD99753DA4F8}"/>
              </a:ext>
            </a:extLst>
          </p:cNvPr>
          <p:cNvSpPr>
            <a:spLocks xmlns:a="http://schemas.openxmlformats.org/drawingml/2006/main" noGrp="1"/>
          </p:cNvSpPr>
          <p:nvPr/>
        </p:nvSpPr>
        <p:spPr>
          <a:xfrm xmlns:a="http://schemas.openxmlformats.org/drawingml/2006/main">
            <a:off x="609600" y="16478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E6BF75"/>
                </a:solidFill>
                <a:latin typeface="Arial"/>
                <a:ea typeface="Arial"/>
                <a:cs typeface="Arial"/>
              </a:defRPr>
            </a:pPr>
            <a:r>
              <a:rPr sz="2325" b="1">
                <a:solidFill>
                  <a:srgbClr val="E6BF75"/>
                </a:solidFill>
                <a:latin typeface="Arial"/>
                <a:ea typeface="Arial"/>
                <a:cs typeface="Arial"/>
              </a:rPr>
              <a:t>El prototipo ya reúne</a:t>
            </a:r>
          </a:p>
        </p:txBody>
      </p:sp>
      <p:sp>
        <p:nvSpPr>
          <p:cNvPr id="3" name="">
            <a:extLst xmlns:a="http://schemas.openxmlformats.org/drawingml/2006/main">
              <a:ext uri="{FF2B5EF4-FFF2-40B4-BE49-F238E27FC236}">
                <a16:creationId xmlns:a16="http://schemas.microsoft.com/office/drawing/2014/main" id="{A9FA9A02-6F83-403D-A954-14B6748A2D72}"/>
              </a:ext>
            </a:extLst>
          </p:cNvPr>
          <p:cNvSpPr>
            <a:spLocks xmlns:a="http://schemas.openxmlformats.org/drawingml/2006/main" noGrp="1"/>
          </p:cNvSpPr>
          <p:nvPr/>
        </p:nvSpPr>
        <p:spPr>
          <a:xfrm xmlns:a="http://schemas.openxmlformats.org/drawingml/2006/main">
            <a:off x="609600" y="2295525"/>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1F0E7"/>
                </a:solidFill>
                <a:latin typeface="Arial"/>
                <a:ea typeface="Arial"/>
                <a:cs typeface="Arial"/>
              </a:defRPr>
            </a:pPr>
            <a:r>
              <a:rPr sz="2175" b="0">
                <a:solidFill>
                  <a:srgbClr val="F1F0E7"/>
                </a:solidFill>
                <a:latin typeface="Arial"/>
                <a:ea typeface="Arial"/>
                <a:cs typeface="Arial"/>
              </a:rPr>
              <a:t>Movimiento y cámara</a:t>
            </a:r>
          </a:p>
          <a:p xmlns:a="http://schemas.openxmlformats.org/drawingml/2006/main">
            <a:pPr>
              <a:defRPr sz="2175" b="0">
                <a:solidFill>
                  <a:srgbClr val="F1F0E7"/>
                </a:solidFill>
                <a:latin typeface="Arial"/>
                <a:ea typeface="Arial"/>
                <a:cs typeface="Arial"/>
              </a:defRPr>
            </a:pPr>
            <a:r>
              <a:rPr sz="2175" b="0">
                <a:solidFill>
                  <a:srgbClr val="F1F0E7"/>
                </a:solidFill>
                <a:latin typeface="Arial"/>
                <a:ea typeface="Arial"/>
                <a:cs typeface="Arial"/>
              </a:rPr>
              <a:t>Combate y repertorios de armas</a:t>
            </a:r>
          </a:p>
          <a:p xmlns:a="http://schemas.openxmlformats.org/drawingml/2006/main">
            <a:pPr>
              <a:defRPr sz="2175" b="0">
                <a:solidFill>
                  <a:srgbClr val="F1F0E7"/>
                </a:solidFill>
                <a:latin typeface="Arial"/>
                <a:ea typeface="Arial"/>
                <a:cs typeface="Arial"/>
              </a:defRPr>
            </a:pPr>
            <a:r>
              <a:rPr sz="2175" b="0">
                <a:solidFill>
                  <a:srgbClr val="F1F0E7"/>
                </a:solidFill>
                <a:latin typeface="Arial"/>
                <a:ea typeface="Arial"/>
                <a:cs typeface="Arial"/>
              </a:rPr>
              <a:t>Exploración por sectores</a:t>
            </a:r>
          </a:p>
          <a:p xmlns:a="http://schemas.openxmlformats.org/drawingml/2006/main">
            <a:pPr>
              <a:defRPr sz="2175" b="0">
                <a:solidFill>
                  <a:srgbClr val="F1F0E7"/>
                </a:solidFill>
                <a:latin typeface="Arial"/>
                <a:ea typeface="Arial"/>
                <a:cs typeface="Arial"/>
              </a:defRPr>
            </a:pPr>
            <a:r>
              <a:rPr sz="2175" b="0">
                <a:solidFill>
                  <a:srgbClr val="F1F0E7"/>
                </a:solidFill>
                <a:latin typeface="Arial"/>
                <a:ea typeface="Arial"/>
                <a:cs typeface="Arial"/>
              </a:rPr>
              <a:t>Inventario y guardado</a:t>
            </a:r>
          </a:p>
          <a:p xmlns:a="http://schemas.openxmlformats.org/drawingml/2006/main">
            <a:pPr>
              <a:defRPr sz="2175" b="0">
                <a:solidFill>
                  <a:srgbClr val="F1F0E7"/>
                </a:solidFill>
                <a:latin typeface="Arial"/>
                <a:ea typeface="Arial"/>
                <a:cs typeface="Arial"/>
              </a:defRPr>
            </a:pPr>
            <a:r>
              <a:rPr sz="2175" b="0">
                <a:solidFill>
                  <a:srgbClr val="F1F0E7"/>
                </a:solidFill>
                <a:latin typeface="Arial"/>
                <a:ea typeface="Arial"/>
                <a:cs typeface="Arial"/>
              </a:rPr>
              <a:t>Recolección y crafting básico</a:t>
            </a:r>
          </a:p>
        </p:txBody>
      </p:sp>
      <p:sp>
        <p:nvSpPr>
          <p:cNvPr id="4" name="">
            <a:extLst xmlns:a="http://schemas.openxmlformats.org/drawingml/2006/main">
              <a:ext uri="{FF2B5EF4-FFF2-40B4-BE49-F238E27FC236}">
                <a16:creationId xmlns:a16="http://schemas.microsoft.com/office/drawing/2014/main" id="{65282936-4F7A-45F9-A9A5-2B79F5A3DD5E}"/>
              </a:ext>
            </a:extLst>
          </p:cNvPr>
          <p:cNvSpPr>
            <a:spLocks xmlns:a="http://schemas.openxmlformats.org/drawingml/2006/main" noGrp="1"/>
          </p:cNvSpPr>
          <p:nvPr/>
        </p:nvSpPr>
        <p:spPr>
          <a:xfrm xmlns:a="http://schemas.openxmlformats.org/drawingml/2006/main">
            <a:off x="609600" y="52387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Falta pulir la experiencia y unificar el arte.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87951ca59e24c09"/>
          <a:stretch xmlns:a="http://schemas.openxmlformats.org/drawingml/2006/main"/>
        </p:blipFill>
        <p:spPr>
          <a:xfrm xmlns:a="http://schemas.openxmlformats.org/drawingml/2006/main">
            <a:off x="6191250" y="2184202"/>
            <a:ext cx="5429250" cy="291822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8AA87B-006B-4FC8-812B-20083F03F281}"/>
              </a:ext>
            </a:extLst>
          </p:cNvPr>
          <p:cNvSpPr>
            <a:spLocks xmlns:a="http://schemas.openxmlformats.org/drawingml/2006/main" noGrp="1"/>
          </p:cNvSpPr>
          <p:nvPr/>
        </p:nvSpPr>
        <p:spPr>
          <a:xfrm xmlns:a="http://schemas.openxmlformats.org/drawingml/2006/main">
            <a:off x="6286500" y="57531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C5C1"/>
                </a:solidFill>
                <a:latin typeface="Arial"/>
                <a:ea typeface="Arial"/>
                <a:cs typeface="Arial"/>
              </a:defRPr>
            </a:pPr>
            <a:r>
              <a:rPr sz="1725" b="0">
                <a:solidFill>
                  <a:srgbClr val="B7C5C1"/>
                </a:solidFill>
                <a:latin typeface="Arial"/>
                <a:ea typeface="Arial"/>
                <a:cs typeface="Arial"/>
              </a:rPr>
              <a:t>Interfaz de armas del prototipo</a:t>
            </a:r>
          </a:p>
        </p:txBody>
      </p:sp>
    </p:spTree>
    <p:extLst>
      <p:ext uri="{BB962C8B-B14F-4D97-AF65-F5344CB8AC3E}">
        <p14:creationId xmlns:p14="http://schemas.microsoft.com/office/powerpoint/2010/main" val="760542436"/>
      </p:ext>
    </p:extLst>
  </p:cSld>
</p:sld>
</file>

<file path=ppt/slides/slide11.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80B279-DFEB-4D08-AA0A-65138A56647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El próximo hito: una demo que invite a repetir</a:t>
            </a:r>
          </a:p>
        </p:txBody>
      </p:sp>
      <p:sp>
        <p:nvSpPr>
          <p:cNvPr id="2" name="">
            <a:extLst xmlns:a="http://schemas.openxmlformats.org/drawingml/2006/main">
              <a:ext uri="{FF2B5EF4-FFF2-40B4-BE49-F238E27FC236}">
                <a16:creationId xmlns:a16="http://schemas.microsoft.com/office/drawing/2014/main" id="{994F91E5-4B60-4506-8FE6-A9DDCB181D85}"/>
              </a:ext>
            </a:extLst>
          </p:cNvPr>
          <p:cNvSpPr>
            <a:spLocks xmlns:a="http://schemas.openxmlformats.org/drawingml/2006/main" noGrp="1"/>
          </p:cNvSpPr>
          <p:nvPr/>
        </p:nvSpPr>
        <p:spPr>
          <a:xfrm xmlns:a="http://schemas.openxmlformats.org/drawingml/2006/main">
            <a:off x="609600" y="17145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Alcance propuesto</a:t>
            </a:r>
          </a:p>
        </p:txBody>
      </p:sp>
      <p:sp>
        <p:nvSpPr>
          <p:cNvPr id="3" name="">
            <a:extLst xmlns:a="http://schemas.openxmlformats.org/drawingml/2006/main">
              <a:ext uri="{FF2B5EF4-FFF2-40B4-BE49-F238E27FC236}">
                <a16:creationId xmlns:a16="http://schemas.microsoft.com/office/drawing/2014/main" id="{2E247E98-ECEB-4B50-A69C-ABB3D9C94BE0}"/>
              </a:ext>
            </a:extLst>
          </p:cNvPr>
          <p:cNvSpPr>
            <a:spLocks xmlns:a="http://schemas.openxmlformats.org/drawingml/2006/main" noGrp="1"/>
          </p:cNvSpPr>
          <p:nvPr/>
        </p:nvSpPr>
        <p:spPr>
          <a:xfrm xmlns:a="http://schemas.openxmlformats.org/drawingml/2006/main">
            <a:off x="609600" y="2257425"/>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Una zona cuidada, dos estilos bien pulidos y un encuentro memorable con recompensa.</a:t>
            </a:r>
          </a:p>
        </p:txBody>
      </p:sp>
      <p:sp>
        <p:nvSpPr>
          <p:cNvPr id="4" name="">
            <a:extLst xmlns:a="http://schemas.openxmlformats.org/drawingml/2006/main">
              <a:ext uri="{FF2B5EF4-FFF2-40B4-BE49-F238E27FC236}">
                <a16:creationId xmlns:a16="http://schemas.microsoft.com/office/drawing/2014/main" id="{78239757-5979-4990-A47A-9430B6CC8788}"/>
              </a:ext>
            </a:extLst>
          </p:cNvPr>
          <p:cNvSpPr>
            <a:spLocks xmlns:a="http://schemas.openxmlformats.org/drawingml/2006/main" noGrp="1"/>
          </p:cNvSpPr>
          <p:nvPr/>
        </p:nvSpPr>
        <p:spPr>
          <a:xfrm xmlns:a="http://schemas.openxmlformats.org/drawingml/2006/main">
            <a:off x="6477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Qué queremos comprobar</a:t>
            </a:r>
          </a:p>
        </p:txBody>
      </p:sp>
      <p:sp>
        <p:nvSpPr>
          <p:cNvPr id="5" name="">
            <a:extLst xmlns:a="http://schemas.openxmlformats.org/drawingml/2006/main">
              <a:ext uri="{FF2B5EF4-FFF2-40B4-BE49-F238E27FC236}">
                <a16:creationId xmlns:a16="http://schemas.microsoft.com/office/drawing/2014/main" id="{07B536B2-6A02-4754-A3C7-4437E8E107BF}"/>
              </a:ext>
            </a:extLst>
          </p:cNvPr>
          <p:cNvSpPr>
            <a:spLocks xmlns:a="http://schemas.openxmlformats.org/drawingml/2006/main" noGrp="1"/>
          </p:cNvSpPr>
          <p:nvPr/>
        </p:nvSpPr>
        <p:spPr>
          <a:xfrm xmlns:a="http://schemas.openxmlformats.org/drawingml/2006/main">
            <a:off x="6477000" y="2257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¿Se entiende el combate? ¿Cambiar de arma resulta interesante? ¿Dan ganas de volver?</a:t>
            </a:r>
          </a:p>
        </p:txBody>
      </p:sp>
      <p:sp>
        <p:nvSpPr>
          <p:cNvPr id="6" name="">
            <a:extLst xmlns:a="http://schemas.openxmlformats.org/drawingml/2006/main">
              <a:ext uri="{FF2B5EF4-FFF2-40B4-BE49-F238E27FC236}">
                <a16:creationId xmlns:a16="http://schemas.microsoft.com/office/drawing/2014/main" id="{ED089074-0EAC-4CCA-A3C0-3ECF4F361CFF}"/>
              </a:ext>
            </a:extLst>
          </p:cNvPr>
          <p:cNvSpPr>
            <a:spLocks xmlns:a="http://schemas.openxmlformats.org/drawingml/2006/main" noGrp="1"/>
          </p:cNvSpPr>
          <p:nvPr/>
        </p:nvSpPr>
        <p:spPr>
          <a:xfrm xmlns:a="http://schemas.openxmlformats.org/drawingml/2006/main">
            <a:off x="609600" y="40005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Trabajo inmediato</a:t>
            </a:r>
          </a:p>
        </p:txBody>
      </p:sp>
      <p:sp>
        <p:nvSpPr>
          <p:cNvPr id="7" name="">
            <a:extLst xmlns:a="http://schemas.openxmlformats.org/drawingml/2006/main">
              <a:ext uri="{FF2B5EF4-FFF2-40B4-BE49-F238E27FC236}">
                <a16:creationId xmlns:a16="http://schemas.microsoft.com/office/drawing/2014/main" id="{6BD3C433-1448-41FF-8A62-4B492AA2099E}"/>
              </a:ext>
            </a:extLst>
          </p:cNvPr>
          <p:cNvSpPr>
            <a:spLocks xmlns:a="http://schemas.openxmlformats.org/drawingml/2006/main" noGrp="1"/>
          </p:cNvSpPr>
          <p:nvPr/>
        </p:nvSpPr>
        <p:spPr>
          <a:xfrm xmlns:a="http://schemas.openxmlformats.org/drawingml/2006/main">
            <a:off x="609600" y="4543425"/>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Actualizar la build, mejorar animaciones y feedback, elegir assets coherentes y probar con compañeros.</a:t>
            </a:r>
          </a:p>
        </p:txBody>
      </p:sp>
      <p:sp>
        <p:nvSpPr>
          <p:cNvPr id="8" name="">
            <a:extLst xmlns:a="http://schemas.openxmlformats.org/drawingml/2006/main">
              <a:ext uri="{FF2B5EF4-FFF2-40B4-BE49-F238E27FC236}">
                <a16:creationId xmlns:a16="http://schemas.microsoft.com/office/drawing/2014/main" id="{39E8CD21-DDF4-42B2-8357-F4BE266F3C30}"/>
              </a:ext>
            </a:extLst>
          </p:cNvPr>
          <p:cNvSpPr>
            <a:spLocks xmlns:a="http://schemas.openxmlformats.org/drawingml/2006/main" noGrp="1"/>
          </p:cNvSpPr>
          <p:nvPr/>
        </p:nvSpPr>
        <p:spPr>
          <a:xfrm xmlns:a="http://schemas.openxmlformats.org/drawingml/2006/main">
            <a:off x="6477000" y="4000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Camino al online</a:t>
            </a:r>
          </a:p>
        </p:txBody>
      </p:sp>
      <p:sp>
        <p:nvSpPr>
          <p:cNvPr id="9" name="">
            <a:extLst xmlns:a="http://schemas.openxmlformats.org/drawingml/2006/main">
              <a:ext uri="{FF2B5EF4-FFF2-40B4-BE49-F238E27FC236}">
                <a16:creationId xmlns:a16="http://schemas.microsoft.com/office/drawing/2014/main" id="{E44EFCEC-A0F5-44E4-BA26-1DFC24ADD23A}"/>
              </a:ext>
            </a:extLst>
          </p:cNvPr>
          <p:cNvSpPr>
            <a:spLocks xmlns:a="http://schemas.openxmlformats.org/drawingml/2006/main" noGrp="1"/>
          </p:cNvSpPr>
          <p:nvPr/>
        </p:nvSpPr>
        <p:spPr>
          <a:xfrm xmlns:a="http://schemas.openxmlformats.org/drawingml/2006/main">
            <a:off x="6477000" y="4543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Evaluar aparte la sincronización de movimiento, impactos e inventario antes de ampliar a seis jugadores.</a:t>
            </a:r>
          </a:p>
        </p:txBody>
      </p:sp>
    </p:spTree>
    <p:extLst>
      <p:ext uri="{BB962C8B-B14F-4D97-AF65-F5344CB8AC3E}">
        <p14:creationId xmlns:p14="http://schemas.microsoft.com/office/powerpoint/2010/main" val="641511599"/>
      </p:ext>
    </p:extLst>
  </p:cSld>
</p:sld>
</file>

<file path=ppt/slides/slide12.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62186F-1798-4CB6-80C3-AE5F2244752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Dónde puede aportar cada compañero</a:t>
            </a:r>
          </a:p>
        </p:txBody>
      </p:sp>
      <p:sp>
        <p:nvSpPr>
          <p:cNvPr id="2" name="">
            <a:extLst xmlns:a="http://schemas.openxmlformats.org/drawingml/2006/main">
              <a:ext uri="{FF2B5EF4-FFF2-40B4-BE49-F238E27FC236}">
                <a16:creationId xmlns:a16="http://schemas.microsoft.com/office/drawing/2014/main" id="{2C06D44F-A051-4266-8233-FE2760A64A4D}"/>
              </a:ext>
            </a:extLst>
          </p:cNvPr>
          <p:cNvSpPr>
            <a:spLocks xmlns:a="http://schemas.openxmlformats.org/drawingml/2006/main" noGrp="1"/>
          </p:cNvSpPr>
          <p:nvPr/>
        </p:nvSpPr>
        <p:spPr>
          <a:xfrm xmlns:a="http://schemas.openxmlformats.org/drawingml/2006/main">
            <a:off x="609600" y="17145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Arte y animación</a:t>
            </a:r>
          </a:p>
        </p:txBody>
      </p:sp>
      <p:sp>
        <p:nvSpPr>
          <p:cNvPr id="3" name="">
            <a:extLst xmlns:a="http://schemas.openxmlformats.org/drawingml/2006/main">
              <a:ext uri="{FF2B5EF4-FFF2-40B4-BE49-F238E27FC236}">
                <a16:creationId xmlns:a16="http://schemas.microsoft.com/office/drawing/2014/main" id="{9C6D82EC-B64E-441F-9B5D-E16AF1896B0F}"/>
              </a:ext>
            </a:extLst>
          </p:cNvPr>
          <p:cNvSpPr>
            <a:spLocks xmlns:a="http://schemas.openxmlformats.org/drawingml/2006/main" noGrp="1"/>
          </p:cNvSpPr>
          <p:nvPr/>
        </p:nvSpPr>
        <p:spPr>
          <a:xfrm xmlns:a="http://schemas.openxmlformats.org/drawingml/2006/main">
            <a:off x="609600" y="2257425"/>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Dar identidad al personaje, las armas y el entorno. Mejorar cómo se leen los ataques.</a:t>
            </a:r>
          </a:p>
        </p:txBody>
      </p:sp>
      <p:sp>
        <p:nvSpPr>
          <p:cNvPr id="4" name="">
            <a:extLst xmlns:a="http://schemas.openxmlformats.org/drawingml/2006/main">
              <a:ext uri="{FF2B5EF4-FFF2-40B4-BE49-F238E27FC236}">
                <a16:creationId xmlns:a16="http://schemas.microsoft.com/office/drawing/2014/main" id="{AB86949B-D0AD-486D-B646-CF320DE89249}"/>
              </a:ext>
            </a:extLst>
          </p:cNvPr>
          <p:cNvSpPr>
            <a:spLocks xmlns:a="http://schemas.openxmlformats.org/drawingml/2006/main" noGrp="1"/>
          </p:cNvSpPr>
          <p:nvPr/>
        </p:nvSpPr>
        <p:spPr>
          <a:xfrm xmlns:a="http://schemas.openxmlformats.org/drawingml/2006/main">
            <a:off x="6477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Diseño y pruebas</a:t>
            </a:r>
          </a:p>
        </p:txBody>
      </p:sp>
      <p:sp>
        <p:nvSpPr>
          <p:cNvPr id="5" name="">
            <a:extLst xmlns:a="http://schemas.openxmlformats.org/drawingml/2006/main">
              <a:ext uri="{FF2B5EF4-FFF2-40B4-BE49-F238E27FC236}">
                <a16:creationId xmlns:a16="http://schemas.microsoft.com/office/drawing/2014/main" id="{F3B385AD-2399-4A05-B371-F97F12193A0D}"/>
              </a:ext>
            </a:extLst>
          </p:cNvPr>
          <p:cNvSpPr>
            <a:spLocks xmlns:a="http://schemas.openxmlformats.org/drawingml/2006/main" noGrp="1"/>
          </p:cNvSpPr>
          <p:nvPr/>
        </p:nvSpPr>
        <p:spPr>
          <a:xfrm xmlns:a="http://schemas.openxmlformats.org/drawingml/2006/main">
            <a:off x="6477000" y="2257425"/>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Ajustar encuentros y repertorios. Observar dónde el juego confunde o deja de divertir.</a:t>
            </a:r>
          </a:p>
        </p:txBody>
      </p:sp>
      <p:sp>
        <p:nvSpPr>
          <p:cNvPr id="6" name="">
            <a:extLst xmlns:a="http://schemas.openxmlformats.org/drawingml/2006/main">
              <a:ext uri="{FF2B5EF4-FFF2-40B4-BE49-F238E27FC236}">
                <a16:creationId xmlns:a16="http://schemas.microsoft.com/office/drawing/2014/main" id="{7B100DBB-4375-493C-8D92-B3C2A217D063}"/>
              </a:ext>
            </a:extLst>
          </p:cNvPr>
          <p:cNvSpPr>
            <a:spLocks xmlns:a="http://schemas.openxmlformats.org/drawingml/2006/main" noGrp="1"/>
          </p:cNvSpPr>
          <p:nvPr/>
        </p:nvSpPr>
        <p:spPr>
          <a:xfrm xmlns:a="http://schemas.openxmlformats.org/drawingml/2006/main">
            <a:off x="609600" y="40290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Desarrollo</a:t>
            </a:r>
          </a:p>
        </p:txBody>
      </p:sp>
      <p:sp>
        <p:nvSpPr>
          <p:cNvPr id="7" name="">
            <a:extLst xmlns:a="http://schemas.openxmlformats.org/drawingml/2006/main">
              <a:ext uri="{FF2B5EF4-FFF2-40B4-BE49-F238E27FC236}">
                <a16:creationId xmlns:a16="http://schemas.microsoft.com/office/drawing/2014/main" id="{0827E4D3-8A53-41F5-8592-E6DA645B0345}"/>
              </a:ext>
            </a:extLst>
          </p:cNvPr>
          <p:cNvSpPr>
            <a:spLocks xmlns:a="http://schemas.openxmlformats.org/drawingml/2006/main" noGrp="1"/>
          </p:cNvSpPr>
          <p:nvPr/>
        </p:nvSpPr>
        <p:spPr>
          <a:xfrm xmlns:a="http://schemas.openxmlformats.org/drawingml/2006/main">
            <a:off x="609600" y="4572000"/>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Pulir sistemas actuales y estudiar qué exige el futuro multijugador.</a:t>
            </a:r>
          </a:p>
        </p:txBody>
      </p:sp>
      <p:sp>
        <p:nvSpPr>
          <p:cNvPr id="8" name="">
            <a:extLst xmlns:a="http://schemas.openxmlformats.org/drawingml/2006/main">
              <a:ext uri="{FF2B5EF4-FFF2-40B4-BE49-F238E27FC236}">
                <a16:creationId xmlns:a16="http://schemas.microsoft.com/office/drawing/2014/main" id="{2C521F2B-269A-4F99-8E06-47A5C087B705}"/>
              </a:ext>
            </a:extLst>
          </p:cNvPr>
          <p:cNvSpPr>
            <a:spLocks xmlns:a="http://schemas.openxmlformats.org/drawingml/2006/main" noGrp="1"/>
          </p:cNvSpPr>
          <p:nvPr/>
        </p:nvSpPr>
        <p:spPr>
          <a:xfrm xmlns:a="http://schemas.openxmlformats.org/drawingml/2006/main">
            <a:off x="6477000" y="40290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Primer compromiso</a:t>
            </a:r>
          </a:p>
        </p:txBody>
      </p:sp>
      <p:sp>
        <p:nvSpPr>
          <p:cNvPr id="9" name="">
            <a:extLst xmlns:a="http://schemas.openxmlformats.org/drawingml/2006/main">
              <a:ext uri="{FF2B5EF4-FFF2-40B4-BE49-F238E27FC236}">
                <a16:creationId xmlns:a16="http://schemas.microsoft.com/office/drawing/2014/main" id="{33548DF1-1833-4D0A-9FB6-3CE9B8F5E0EE}"/>
              </a:ext>
            </a:extLst>
          </p:cNvPr>
          <p:cNvSpPr>
            <a:spLocks xmlns:a="http://schemas.openxmlformats.org/drawingml/2006/main" noGrp="1"/>
          </p:cNvSpPr>
          <p:nvPr/>
        </p:nvSpPr>
        <p:spPr>
          <a:xfrm xmlns:a="http://schemas.openxmlformats.org/drawingml/2006/main">
            <a:off x="6477000" y="457200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Elegir una mejora concreta, acordar disponibilidad y probar el resultado juntos.</a:t>
            </a:r>
          </a:p>
        </p:txBody>
      </p:sp>
    </p:spTree>
    <p:extLst>
      <p:ext uri="{BB962C8B-B14F-4D97-AF65-F5344CB8AC3E}">
        <p14:creationId xmlns:p14="http://schemas.microsoft.com/office/powerpoint/2010/main" val="1963518971"/>
      </p:ext>
    </p:extLst>
  </p:cSld>
</p:sld>
</file>

<file path=ppt/slides/slide13.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95BC6-FA47-4246-A407-70823451ED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La invitación</a:t>
            </a:r>
          </a:p>
        </p:txBody>
      </p:sp>
      <p:sp>
        <p:nvSpPr>
          <p:cNvPr id="2" name="">
            <a:extLst xmlns:a="http://schemas.openxmlformats.org/drawingml/2006/main">
              <a:ext uri="{FF2B5EF4-FFF2-40B4-BE49-F238E27FC236}">
                <a16:creationId xmlns:a16="http://schemas.microsoft.com/office/drawing/2014/main" id="{31A16E3B-366C-4804-BFD1-BA55FF6FC0C8}"/>
              </a:ext>
            </a:extLst>
          </p:cNvPr>
          <p:cNvSpPr>
            <a:spLocks xmlns:a="http://schemas.openxmlformats.org/drawingml/2006/main" noGrp="1"/>
          </p:cNvSpPr>
          <p:nvPr/>
        </p:nvSpPr>
        <p:spPr>
          <a:xfrm xmlns:a="http://schemas.openxmlformats.org/drawingml/2006/main">
            <a:off x="609600" y="1819275"/>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E6BF75"/>
                </a:solidFill>
                <a:latin typeface="Arial"/>
                <a:ea typeface="Arial"/>
                <a:cs typeface="Arial"/>
              </a:defRPr>
            </a:pPr>
            <a:r>
              <a:rPr sz="4350" b="1">
                <a:solidFill>
                  <a:srgbClr val="E6BF75"/>
                </a:solidFill>
                <a:latin typeface="Arial"/>
                <a:ea typeface="Arial"/>
                <a:cs typeface="Arial"/>
              </a:rPr>
              <a:t>Construyamos una demo</a:t>
            </a:r>
          </a:p>
          <a:p xmlns:a="http://schemas.openxmlformats.org/drawingml/2006/main">
            <a:pPr>
              <a:defRPr sz="4350" b="1">
                <a:solidFill>
                  <a:srgbClr val="E6BF75"/>
                </a:solidFill>
                <a:latin typeface="Arial"/>
                <a:ea typeface="Arial"/>
                <a:cs typeface="Arial"/>
              </a:defRPr>
            </a:pPr>
            <a:r>
              <a:rPr sz="4350" b="1">
                <a:solidFill>
                  <a:srgbClr val="E6BF75"/>
                </a:solidFill>
                <a:latin typeface="Arial"/>
                <a:ea typeface="Arial"/>
                <a:cs typeface="Arial"/>
              </a:rPr>
              <a:t>que queramos seguir jugando.</a:t>
            </a:r>
          </a:p>
        </p:txBody>
      </p:sp>
      <p:sp>
        <p:nvSpPr>
          <p:cNvPr id="3" name="">
            <a:extLst xmlns:a="http://schemas.openxmlformats.org/drawingml/2006/main">
              <a:ext uri="{FF2B5EF4-FFF2-40B4-BE49-F238E27FC236}">
                <a16:creationId xmlns:a16="http://schemas.microsoft.com/office/drawing/2014/main" id="{7942674D-46E1-4C7B-9442-74A1B9931DA7}"/>
              </a:ext>
            </a:extLst>
          </p:cNvPr>
          <p:cNvSpPr>
            <a:spLocks xmlns:a="http://schemas.openxmlformats.org/drawingml/2006/main" noGrp="1"/>
          </p:cNvSpPr>
          <p:nvPr/>
        </p:nvSpPr>
        <p:spPr>
          <a:xfrm xmlns:a="http://schemas.openxmlformats.org/drawingml/2006/main">
            <a:off x="609600" y="41148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1F0E7"/>
                </a:solidFill>
                <a:latin typeface="Arial"/>
                <a:ea typeface="Arial"/>
                <a:cs typeface="Arial"/>
              </a:defRPr>
            </a:pPr>
            <a:r>
              <a:rPr sz="2550" b="0">
                <a:solidFill>
                  <a:srgbClr val="F1F0E7"/>
                </a:solidFill>
                <a:latin typeface="Arial"/>
                <a:ea typeface="Arial"/>
                <a:cs typeface="Arial"/>
              </a:rPr>
              <a:t>Ya hay una base. La próxima decisión es qué parte</a:t>
            </a:r>
          </a:p>
          <a:p xmlns:a="http://schemas.openxmlformats.org/drawingml/2006/main">
            <a:pPr>
              <a:defRPr sz="2550" b="0">
                <a:solidFill>
                  <a:srgbClr val="F1F0E7"/>
                </a:solidFill>
                <a:latin typeface="Arial"/>
                <a:ea typeface="Arial"/>
                <a:cs typeface="Arial"/>
              </a:defRPr>
            </a:pPr>
            <a:r>
              <a:rPr sz="2550" b="0">
                <a:solidFill>
                  <a:srgbClr val="F1F0E7"/>
                </a:solidFill>
                <a:latin typeface="Arial"/>
                <a:ea typeface="Arial"/>
                <a:cs typeface="Arial"/>
              </a:rPr>
              <a:t>queremos llevar juntos a una experiencia convincente.</a:t>
            </a:r>
          </a:p>
        </p:txBody>
      </p:sp>
      <p:sp>
        <p:nvSpPr>
          <p:cNvPr id="4" name="">
            <a:extLst xmlns:a="http://schemas.openxmlformats.org/drawingml/2006/main">
              <a:ext uri="{FF2B5EF4-FFF2-40B4-BE49-F238E27FC236}">
                <a16:creationId xmlns:a16="http://schemas.microsoft.com/office/drawing/2014/main" id="{6455C622-EE4C-423F-B638-AA8E823A16DE}"/>
              </a:ext>
            </a:extLst>
          </p:cNvPr>
          <p:cNvSpPr>
            <a:spLocks xmlns:a="http://schemas.openxmlformats.org/drawingml/2006/main" noGrp="1"/>
          </p:cNvSpPr>
          <p:nvPr/>
        </p:nvSpPr>
        <p:spPr>
          <a:xfrm xmlns:a="http://schemas.openxmlformats.org/drawingml/2006/main">
            <a:off x="609600" y="58293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7C5C1"/>
                </a:solidFill>
                <a:latin typeface="Arial"/>
                <a:ea typeface="Arial"/>
                <a:cs typeface="Arial"/>
              </a:defRPr>
            </a:pPr>
            <a:r>
              <a:rPr sz="2025" b="0">
                <a:solidFill>
                  <a:srgbClr val="B7C5C1"/>
                </a:solidFill>
                <a:latin typeface="Arial"/>
                <a:ea typeface="Arial"/>
                <a:cs typeface="Arial"/>
              </a:rPr>
              <a:t>Probar el juego y elegir la primera mejora compartida.</a:t>
            </a:r>
          </a:p>
        </p:txBody>
      </p:sp>
    </p:spTree>
    <p:extLst>
      <p:ext uri="{BB962C8B-B14F-4D97-AF65-F5344CB8AC3E}">
        <p14:creationId xmlns:p14="http://schemas.microsoft.com/office/powerpoint/2010/main" val="1703542124"/>
      </p:ext>
    </p:extLst>
  </p:cSld>
</p:sld>
</file>

<file path=ppt/slides/slide14.xml><?xml version="1.0" encoding="utf-8"?>
<p:sld xmlns:p="http://schemas.openxmlformats.org/presentationml/2006/main">
  <p:cSld>
    <p:bg>
      <p:bgPr>
        <a:solidFill xmlns:a="http://schemas.openxmlformats.org/drawingml/2006/main">
          <a:srgbClr val="101A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82CF05-F112-446C-907D-04021A4A7E4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1F0E7"/>
                </a:solidFill>
                <a:latin typeface="Arial"/>
                <a:ea typeface="Arial"/>
                <a:cs typeface="Arial"/>
              </a:defRPr>
            </a:pPr>
            <a:r>
              <a:rPr sz="3450" b="1">
                <a:solidFill>
                  <a:srgbClr val="F1F0E7"/>
                </a:solidFill>
                <a:latin typeface="Arial"/>
                <a:ea typeface="Arial"/>
                <a:cs typeface="Arial"/>
              </a:rPr>
              <a:t>Anexo: antecedentes de crowdfunding</a:t>
            </a:r>
          </a:p>
        </p:txBody>
      </p:sp>
      <p:sp>
        <p:nvSpPr>
          <p:cNvPr id="2" name="">
            <a:extLst xmlns:a="http://schemas.openxmlformats.org/drawingml/2006/main">
              <a:ext uri="{FF2B5EF4-FFF2-40B4-BE49-F238E27FC236}">
                <a16:creationId xmlns:a16="http://schemas.microsoft.com/office/drawing/2014/main" id="{DAF241FE-165C-4D35-82A2-F9118009648F}"/>
              </a:ext>
            </a:extLst>
          </p:cNvPr>
          <p:cNvSpPr>
            <a:spLocks xmlns:a="http://schemas.openxmlformats.org/drawingml/2006/main" noGrp="1"/>
          </p:cNvSpPr>
          <p:nvPr/>
        </p:nvSpPr>
        <p:spPr>
          <a:xfrm xmlns:a="http://schemas.openxmlformats.org/drawingml/2006/main">
            <a:off x="609600" y="16859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Project: Gorgon</a:t>
            </a:r>
          </a:p>
        </p:txBody>
      </p:sp>
      <p:sp>
        <p:nvSpPr>
          <p:cNvPr id="3" name="">
            <a:extLst xmlns:a="http://schemas.openxmlformats.org/drawingml/2006/main">
              <a:ext uri="{FF2B5EF4-FFF2-40B4-BE49-F238E27FC236}">
                <a16:creationId xmlns:a16="http://schemas.microsoft.com/office/drawing/2014/main" id="{D6302BAE-9190-4C70-8C31-A3C31C100C6B}"/>
              </a:ext>
            </a:extLst>
          </p:cNvPr>
          <p:cNvSpPr>
            <a:spLocks xmlns:a="http://schemas.openxmlformats.org/drawingml/2006/main" noGrp="1"/>
          </p:cNvSpPr>
          <p:nvPr/>
        </p:nvSpPr>
        <p:spPr>
          <a:xfrm xmlns:a="http://schemas.openxmlformats.org/drawingml/2006/main">
            <a:off x="609600" y="2228850"/>
            <a:ext cx="5143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Fantasía y descubrimiento.</a:t>
            </a:r>
          </a:p>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Campaña de 2015 en Kickstarter.</a:t>
            </a:r>
          </a:p>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Meta: USD 20.000.</a:t>
            </a:r>
          </a:p>
        </p:txBody>
      </p:sp>
      <p:sp>
        <p:nvSpPr>
          <p:cNvPr id="4" name="">
            <a:extLst xmlns:a="http://schemas.openxmlformats.org/drawingml/2006/main">
              <a:ext uri="{FF2B5EF4-FFF2-40B4-BE49-F238E27FC236}">
                <a16:creationId xmlns:a16="http://schemas.microsoft.com/office/drawing/2014/main" id="{FA6D4861-74BB-4932-8934-D7172A7550D5}"/>
              </a:ext>
            </a:extLst>
          </p:cNvPr>
          <p:cNvSpPr>
            <a:spLocks xmlns:a="http://schemas.openxmlformats.org/drawingml/2006/main" noGrp="1"/>
          </p:cNvSpPr>
          <p:nvPr/>
        </p:nvSpPr>
        <p:spPr>
          <a:xfrm xmlns:a="http://schemas.openxmlformats.org/drawingml/2006/main">
            <a:off x="609600" y="3686175"/>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6BF75"/>
                </a:solidFill>
                <a:latin typeface="Arial"/>
                <a:ea typeface="Arial"/>
                <a:cs typeface="Arial"/>
              </a:defRPr>
            </a:pPr>
            <a:r>
              <a:rPr sz="3600" b="1">
                <a:solidFill>
                  <a:srgbClr val="E6BF75"/>
                </a:solidFill>
                <a:latin typeface="Arial"/>
                <a:ea typeface="Arial"/>
                <a:cs typeface="Arial"/>
              </a:rPr>
              <a:t>USD 74.781</a:t>
            </a:r>
          </a:p>
        </p:txBody>
      </p:sp>
      <p:sp>
        <p:nvSpPr>
          <p:cNvPr id="5" name="">
            <a:extLst xmlns:a="http://schemas.openxmlformats.org/drawingml/2006/main">
              <a:ext uri="{FF2B5EF4-FFF2-40B4-BE49-F238E27FC236}">
                <a16:creationId xmlns:a16="http://schemas.microsoft.com/office/drawing/2014/main" id="{5AA26ADA-43DC-4320-8FB3-333E5CC81BC9}"/>
              </a:ext>
            </a:extLst>
          </p:cNvPr>
          <p:cNvSpPr>
            <a:spLocks xmlns:a="http://schemas.openxmlformats.org/drawingml/2006/main" noGrp="1"/>
          </p:cNvSpPr>
          <p:nvPr/>
        </p:nvSpPr>
        <p:spPr>
          <a:xfrm xmlns:a="http://schemas.openxmlformats.org/drawingml/2006/main">
            <a:off x="6477000" y="16859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6BF75"/>
                </a:solidFill>
                <a:latin typeface="Arial"/>
                <a:ea typeface="Arial"/>
                <a:cs typeface="Arial"/>
              </a:defRPr>
            </a:pPr>
            <a:r>
              <a:rPr sz="2250" b="1">
                <a:solidFill>
                  <a:srgbClr val="E6BF75"/>
                </a:solidFill>
                <a:latin typeface="Arial"/>
                <a:ea typeface="Arial"/>
                <a:cs typeface="Arial"/>
              </a:rPr>
              <a:t>Hyper Light Drifter</a:t>
            </a:r>
          </a:p>
        </p:txBody>
      </p:sp>
      <p:sp>
        <p:nvSpPr>
          <p:cNvPr id="6" name="">
            <a:extLst xmlns:a="http://schemas.openxmlformats.org/drawingml/2006/main">
              <a:ext uri="{FF2B5EF4-FFF2-40B4-BE49-F238E27FC236}">
                <a16:creationId xmlns:a16="http://schemas.microsoft.com/office/drawing/2014/main" id="{8D36469B-50FA-4DE6-A446-A11EB90D1626}"/>
              </a:ext>
            </a:extLst>
          </p:cNvPr>
          <p:cNvSpPr>
            <a:spLocks xmlns:a="http://schemas.openxmlformats.org/drawingml/2006/main" noGrp="1"/>
          </p:cNvSpPr>
          <p:nvPr/>
        </p:nvSpPr>
        <p:spPr>
          <a:xfrm xmlns:a="http://schemas.openxmlformats.org/drawingml/2006/main">
            <a:off x="6477000" y="2228850"/>
            <a:ext cx="5143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Aventura y exploración.</a:t>
            </a:r>
          </a:p>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Campaña de 2013 en Kickstarter.</a:t>
            </a:r>
          </a:p>
          <a:p xmlns:a="http://schemas.openxmlformats.org/drawingml/2006/main">
            <a:pPr>
              <a:defRPr sz="2025" b="0">
                <a:solidFill>
                  <a:srgbClr val="F1F0E7"/>
                </a:solidFill>
                <a:latin typeface="Arial"/>
                <a:ea typeface="Arial"/>
                <a:cs typeface="Arial"/>
              </a:defRPr>
            </a:pPr>
            <a:r>
              <a:rPr sz="2025" b="0">
                <a:solidFill>
                  <a:srgbClr val="F1F0E7"/>
                </a:solidFill>
                <a:latin typeface="Arial"/>
                <a:ea typeface="Arial"/>
                <a:cs typeface="Arial"/>
              </a:rPr>
              <a:t>Meta: USD 27.000.</a:t>
            </a:r>
          </a:p>
        </p:txBody>
      </p:sp>
      <p:sp>
        <p:nvSpPr>
          <p:cNvPr id="7" name="">
            <a:extLst xmlns:a="http://schemas.openxmlformats.org/drawingml/2006/main">
              <a:ext uri="{FF2B5EF4-FFF2-40B4-BE49-F238E27FC236}">
                <a16:creationId xmlns:a16="http://schemas.microsoft.com/office/drawing/2014/main" id="{1E13C9C7-7640-461C-9CCE-BD6D07A089A5}"/>
              </a:ext>
            </a:extLst>
          </p:cNvPr>
          <p:cNvSpPr>
            <a:spLocks xmlns:a="http://schemas.openxmlformats.org/drawingml/2006/main" noGrp="1"/>
          </p:cNvSpPr>
          <p:nvPr/>
        </p:nvSpPr>
        <p:spPr>
          <a:xfrm xmlns:a="http://schemas.openxmlformats.org/drawingml/2006/main">
            <a:off x="6477000" y="3686175"/>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6BF75"/>
                </a:solidFill>
                <a:latin typeface="Arial"/>
                <a:ea typeface="Arial"/>
                <a:cs typeface="Arial"/>
              </a:defRPr>
            </a:pPr>
            <a:r>
              <a:rPr sz="3600" b="1">
                <a:solidFill>
                  <a:srgbClr val="E6BF75"/>
                </a:solidFill>
                <a:latin typeface="Arial"/>
                <a:ea typeface="Arial"/>
                <a:cs typeface="Arial"/>
              </a:rPr>
              <a:t>USD 645.158</a:t>
            </a:r>
          </a:p>
        </p:txBody>
      </p:sp>
      <p:sp>
        <p:nvSpPr>
          <p:cNvPr id="8" name="">
            <a:extLst xmlns:a="http://schemas.openxmlformats.org/drawingml/2006/main">
              <a:ext uri="{FF2B5EF4-FFF2-40B4-BE49-F238E27FC236}">
                <a16:creationId xmlns:a16="http://schemas.microsoft.com/office/drawing/2014/main" id="{789F1445-C32D-4EFB-92A9-1E01244F7E38}"/>
              </a:ext>
            </a:extLst>
          </p:cNvPr>
          <p:cNvSpPr>
            <a:spLocks xmlns:a="http://schemas.openxmlformats.org/drawingml/2006/main" noGrp="1"/>
          </p:cNvSpPr>
          <p:nvPr/>
        </p:nvSpPr>
        <p:spPr>
          <a:xfrm xmlns:a="http://schemas.openxmlformats.org/drawingml/2006/main">
            <a:off x="609600" y="49244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1F0E7"/>
                </a:solidFill>
                <a:latin typeface="Arial"/>
                <a:ea typeface="Arial"/>
                <a:cs typeface="Arial"/>
              </a:defRPr>
            </a:pPr>
            <a:r>
              <a:rPr sz="2325" b="0">
                <a:solidFill>
                  <a:srgbClr val="F1F0E7"/>
                </a:solidFill>
                <a:latin typeface="Arial"/>
                <a:ea typeface="Arial"/>
                <a:cs typeface="Arial"/>
              </a:rPr>
              <a:t>Son antecedentes parciales, no una estimación de lo que recaudaría Mismo.</a:t>
            </a:r>
          </a:p>
        </p:txBody>
      </p:sp>
      <p:sp>
        <p:nvSpPr>
          <p:cNvPr id="9" name="">
            <a:extLst xmlns:a="http://schemas.openxmlformats.org/drawingml/2006/main">
              <a:ext uri="{FF2B5EF4-FFF2-40B4-BE49-F238E27FC236}">
                <a16:creationId xmlns:a16="http://schemas.microsoft.com/office/drawing/2014/main" id="{1987B923-9682-4647-9AB9-758D46D5DE68}"/>
              </a:ext>
            </a:extLst>
          </p:cNvPr>
          <p:cNvSpPr>
            <a:spLocks xmlns:a="http://schemas.openxmlformats.org/drawingml/2006/main" noGrp="1"/>
          </p:cNvSpPr>
          <p:nvPr/>
        </p:nvSpPr>
        <p:spPr>
          <a:xfrm xmlns:a="http://schemas.openxmlformats.org/drawingml/2006/main">
            <a:off x="609600" y="6096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C5C1"/>
                </a:solidFill>
                <a:latin typeface="Arial"/>
                <a:ea typeface="Arial"/>
                <a:cs typeface="Arial"/>
              </a:defRPr>
            </a:pPr>
            <a:r>
              <a:rPr sz="1725" b="0">
                <a:solidFill>
                  <a:srgbClr val="B7C5C1"/>
                </a:solidFill>
                <a:latin typeface="Arial"/>
                <a:ea typeface="Arial"/>
                <a:cs typeface="Arial"/>
              </a:rPr>
              <a:t>Importes brutos de campaña. Fuentes y enlaces en las notas.</a:t>
            </a:r>
          </a:p>
        </p:txBody>
      </p:sp>
    </p:spTree>
    <p:extLst>
      <p:ext uri="{BB962C8B-B14F-4D97-AF65-F5344CB8AC3E}">
        <p14:creationId xmlns:p14="http://schemas.microsoft.com/office/powerpoint/2010/main" val="18995012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2026-09-15T22:56:17.5830000Z</dcterms:created>
  <dcterms:modified xsi:type="dcterms:W3CDTF">2026-09-15T22:56:17.5830000Z</dcterms:modified>
</coreProperties>
</file>